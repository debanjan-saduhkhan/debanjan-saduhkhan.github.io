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67" r:id="rId4"/>
    <p:sldId id="258" r:id="rId5"/>
    <p:sldId id="259" r:id="rId6"/>
    <p:sldId id="260" r:id="rId7"/>
    <p:sldId id="261" r:id="rId8"/>
    <p:sldId id="262" r:id="rId9"/>
    <p:sldId id="264" r:id="rId10"/>
    <p:sldId id="265" r:id="rId11"/>
    <p:sldId id="266" r:id="rId12"/>
    <p:sldId id="263"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946"/>
    <p:restoredTop sz="94681"/>
  </p:normalViewPr>
  <p:slideViewPr>
    <p:cSldViewPr snapToGrid="0">
      <p:cViewPr varScale="1">
        <p:scale>
          <a:sx n="116" d="100"/>
          <a:sy n="116" d="100"/>
        </p:scale>
        <p:origin x="344" y="17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diagrams/colors1.xml><?xml version="1.0" encoding="utf-8"?>
<dgm:colorsDef xmlns:dgm="http://schemas.openxmlformats.org/drawingml/2006/diagram" xmlns:a="http://schemas.openxmlformats.org/drawingml/2006/main" uniqueId="urn:microsoft.com/office/officeart/2005/8/colors/accent4_2">
  <dgm:title val=""/>
  <dgm:desc val=""/>
  <dgm:catLst>
    <dgm:cat type="accent4" pri="11200"/>
  </dgm:catLst>
  <dgm:styleLbl name="node0">
    <dgm:fillClrLst meth="repeat">
      <a:schemeClr val="accent4"/>
    </dgm:fillClrLst>
    <dgm:linClrLst meth="repeat">
      <a:schemeClr val="lt1"/>
    </dgm:linClrLst>
    <dgm:effectClrLst/>
    <dgm:txLinClrLst/>
    <dgm:txFillClrLst/>
    <dgm:txEffectClrLst/>
  </dgm:styleLbl>
  <dgm:styleLbl name="node1">
    <dgm:fillClrLst meth="repeat">
      <a:schemeClr val="accent4"/>
    </dgm:fillClrLst>
    <dgm:linClrLst meth="repeat">
      <a:schemeClr val="lt1"/>
    </dgm:linClrLst>
    <dgm:effectClrLst/>
    <dgm:txLinClrLst/>
    <dgm:txFillClrLst/>
    <dgm:txEffectClrLst/>
  </dgm:styleLbl>
  <dgm:styleLbl name="alignNode1">
    <dgm:fillClrLst meth="repeat">
      <a:schemeClr val="accent4"/>
    </dgm:fillClrLst>
    <dgm:linClrLst meth="repeat">
      <a:schemeClr val="accent4"/>
    </dgm:linClrLst>
    <dgm:effectClrLst/>
    <dgm:txLinClrLst/>
    <dgm:txFillClrLst/>
    <dgm:txEffectClrLst/>
  </dgm:styleLbl>
  <dgm:styleLbl name="lnNode1">
    <dgm:fillClrLst meth="repeat">
      <a:schemeClr val="accent4"/>
    </dgm:fillClrLst>
    <dgm:linClrLst meth="repeat">
      <a:schemeClr val="lt1"/>
    </dgm:linClrLst>
    <dgm:effectClrLst/>
    <dgm:txLinClrLst/>
    <dgm:txFillClrLst/>
    <dgm:txEffectClrLst/>
  </dgm:styleLbl>
  <dgm:styleLbl name="vennNode1">
    <dgm:fillClrLst meth="repeat">
      <a:schemeClr val="accent4">
        <a:alpha val="50000"/>
      </a:schemeClr>
    </dgm:fillClrLst>
    <dgm:linClrLst meth="repeat">
      <a:schemeClr val="lt1"/>
    </dgm:linClrLst>
    <dgm:effectClrLst/>
    <dgm:txLinClrLst/>
    <dgm:txFillClrLst/>
    <dgm:txEffectClrLst/>
  </dgm:styleLbl>
  <dgm:styleLbl name="node2">
    <dgm:fillClrLst meth="repeat">
      <a:schemeClr val="accent4"/>
    </dgm:fillClrLst>
    <dgm:linClrLst meth="repeat">
      <a:schemeClr val="lt1"/>
    </dgm:linClrLst>
    <dgm:effectClrLst/>
    <dgm:txLinClrLst/>
    <dgm:txFillClrLst/>
    <dgm:txEffectClrLst/>
  </dgm:styleLbl>
  <dgm:styleLbl name="node3">
    <dgm:fillClrLst meth="repeat">
      <a:schemeClr val="accent4"/>
    </dgm:fillClrLst>
    <dgm:linClrLst meth="repeat">
      <a:schemeClr val="lt1"/>
    </dgm:linClrLst>
    <dgm:effectClrLst/>
    <dgm:txLinClrLst/>
    <dgm:txFillClrLst/>
    <dgm:txEffectClrLst/>
  </dgm:styleLbl>
  <dgm:styleLbl name="node4">
    <dgm:fillClrLst meth="repeat">
      <a:schemeClr val="accent4"/>
    </dgm:fillClrLst>
    <dgm:linClrLst meth="repeat">
      <a:schemeClr val="lt1"/>
    </dgm:linClrLst>
    <dgm:effectClrLst/>
    <dgm:txLinClrLst/>
    <dgm:txFillClrLst/>
    <dgm:txEffectClrLst/>
  </dgm:styleLbl>
  <dgm:styleLbl name="fg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4">
        <a:tint val="60000"/>
      </a:schemeClr>
    </dgm:fillClrLst>
    <dgm:linClrLst meth="repeat">
      <a:schemeClr val="accent4">
        <a:tint val="60000"/>
      </a:schemeClr>
    </dgm:linClrLst>
    <dgm:effectClrLst/>
    <dgm:txLinClrLst/>
    <dgm:txFillClrLst/>
    <dgm:txEffectClrLst/>
  </dgm:styleLbl>
  <dgm:styleLbl name="fgSibTrans2D1">
    <dgm:fillClrLst meth="repeat">
      <a:schemeClr val="accent4">
        <a:tint val="60000"/>
      </a:schemeClr>
    </dgm:fillClrLst>
    <dgm:linClrLst meth="repeat">
      <a:schemeClr val="accent4">
        <a:tint val="60000"/>
      </a:schemeClr>
    </dgm:linClrLst>
    <dgm:effectClrLst/>
    <dgm:txLinClrLst/>
    <dgm:txFillClrLst/>
    <dgm:txEffectClrLst/>
  </dgm:styleLbl>
  <dgm:styleLbl name="bgSibTrans2D1">
    <dgm:fillClrLst meth="repeat">
      <a:schemeClr val="accent4">
        <a:tint val="60000"/>
      </a:schemeClr>
    </dgm:fillClrLst>
    <dgm:linClrLst meth="repeat">
      <a:schemeClr val="accent4">
        <a:tint val="60000"/>
      </a:schemeClr>
    </dgm:linClrLst>
    <dgm:effectClrLst/>
    <dgm:txLinClrLst/>
    <dgm:txFillClrLst/>
    <dgm:txEffectClrLst/>
  </dgm:styleLbl>
  <dgm:styleLbl name="sibTrans1D1">
    <dgm:fillClrLst meth="repeat">
      <a:schemeClr val="accent4"/>
    </dgm:fillClrLst>
    <dgm:linClrLst meth="repeat">
      <a:schemeClr val="accent4"/>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dgm:linClrLst>
    <dgm:effectClrLst/>
    <dgm:txLinClrLst/>
    <dgm:txFillClrLst/>
    <dgm:txEffectClrLst/>
  </dgm:styleLbl>
  <dgm:styleLbl name="asst1">
    <dgm:fillClrLst meth="repeat">
      <a:schemeClr val="accent4"/>
    </dgm:fillClrLst>
    <dgm:linClrLst meth="repeat">
      <a:schemeClr val="lt1"/>
    </dgm:linClrLst>
    <dgm:effectClrLst/>
    <dgm:txLinClrLst/>
    <dgm:txFillClrLst/>
    <dgm:txEffectClrLst/>
  </dgm:styleLbl>
  <dgm:styleLbl name="asst2">
    <dgm:fillClrLst meth="repeat">
      <a:schemeClr val="accent4"/>
    </dgm:fillClrLst>
    <dgm:linClrLst meth="repeat">
      <a:schemeClr val="lt1"/>
    </dgm:linClrLst>
    <dgm:effectClrLst/>
    <dgm:txLinClrLst/>
    <dgm:txFillClrLst/>
    <dgm:txEffectClrLst/>
  </dgm:styleLbl>
  <dgm:styleLbl name="asst3">
    <dgm:fillClrLst meth="repeat">
      <a:schemeClr val="accent4"/>
    </dgm:fillClrLst>
    <dgm:linClrLst meth="repeat">
      <a:schemeClr val="lt1"/>
    </dgm:linClrLst>
    <dgm:effectClrLst/>
    <dgm:txLinClrLst/>
    <dgm:txFillClrLst/>
    <dgm:txEffectClrLst/>
  </dgm:styleLbl>
  <dgm:styleLbl name="asst4">
    <dgm:fillClrLst meth="repeat">
      <a:schemeClr val="accent4"/>
    </dgm:fillClrLst>
    <dgm:linClrLst meth="repeat">
      <a:schemeClr val="lt1"/>
    </dgm:linClrLst>
    <dgm:effectClrLst/>
    <dgm:txLinClrLst/>
    <dgm:txFillClrLst/>
    <dgm:txEffectClrLst/>
  </dgm:styleLbl>
  <dgm:styleLbl name="parChTrans2D1">
    <dgm:fillClrLst meth="repeat">
      <a:schemeClr val="accent4">
        <a:tint val="60000"/>
      </a:schemeClr>
    </dgm:fillClrLst>
    <dgm:linClrLst meth="repeat">
      <a:schemeClr val="accent4">
        <a:tint val="60000"/>
      </a:schemeClr>
    </dgm:linClrLst>
    <dgm:effectClrLst/>
    <dgm:txLinClrLst/>
    <dgm:txFillClrLst meth="repeat">
      <a:schemeClr val="lt1"/>
    </dgm:txFillClrLst>
    <dgm:txEffectClrLst/>
  </dgm:styleLbl>
  <dgm:styleLbl name="parChTrans2D2">
    <dgm:fillClrLst meth="repeat">
      <a:schemeClr val="accent4"/>
    </dgm:fillClrLst>
    <dgm:linClrLst meth="repeat">
      <a:schemeClr val="accent4"/>
    </dgm:linClrLst>
    <dgm:effectClrLst/>
    <dgm:txLinClrLst/>
    <dgm:txFillClrLst meth="repeat">
      <a:schemeClr val="lt1"/>
    </dgm:txFillClrLst>
    <dgm:txEffectClrLst/>
  </dgm:styleLbl>
  <dgm:styleLbl name="parChTrans2D3">
    <dgm:fillClrLst meth="repeat">
      <a:schemeClr val="accent4"/>
    </dgm:fillClrLst>
    <dgm:linClrLst meth="repeat">
      <a:schemeClr val="accent4"/>
    </dgm:linClrLst>
    <dgm:effectClrLst/>
    <dgm:txLinClrLst/>
    <dgm:txFillClrLst meth="repeat">
      <a:schemeClr val="lt1"/>
    </dgm:txFillClrLst>
    <dgm:txEffectClrLst/>
  </dgm:styleLbl>
  <dgm:styleLbl name="parChTrans2D4">
    <dgm:fillClrLst meth="repeat">
      <a:schemeClr val="accent4"/>
    </dgm:fillClrLst>
    <dgm:linClrLst meth="repeat">
      <a:schemeClr val="accent4"/>
    </dgm:linClrLst>
    <dgm:effectClrLst/>
    <dgm:txLinClrLst/>
    <dgm:txFillClrLst meth="repeat">
      <a:schemeClr val="lt1"/>
    </dgm:txFillClrLst>
    <dgm:txEffectClrLst/>
  </dgm:styleLbl>
  <dgm:styleLbl name="parChTrans1D1">
    <dgm:fillClrLst meth="repeat">
      <a:schemeClr val="accent4"/>
    </dgm:fillClrLst>
    <dgm:linClrLst meth="repeat">
      <a:schemeClr val="accent4">
        <a:shade val="60000"/>
      </a:schemeClr>
    </dgm:linClrLst>
    <dgm:effectClrLst/>
    <dgm:txLinClrLst/>
    <dgm:txFillClrLst meth="repeat">
      <a:schemeClr val="tx1"/>
    </dgm:txFillClrLst>
    <dgm:txEffectClrLst/>
  </dgm:styleLbl>
  <dgm:styleLbl name="parChTrans1D2">
    <dgm:fillClrLst meth="repeat">
      <a:schemeClr val="accent4"/>
    </dgm:fillClrLst>
    <dgm:linClrLst meth="repeat">
      <a:schemeClr val="accent4">
        <a:shade val="60000"/>
      </a:schemeClr>
    </dgm:linClrLst>
    <dgm:effectClrLst/>
    <dgm:txLinClrLst/>
    <dgm:txFillClrLst meth="repeat">
      <a:schemeClr val="tx1"/>
    </dgm:txFillClrLst>
    <dgm:txEffectClrLst/>
  </dgm:styleLbl>
  <dgm:styleLbl name="parChTrans1D3">
    <dgm:fillClrLst meth="repeat">
      <a:schemeClr val="accent4"/>
    </dgm:fillClrLst>
    <dgm:linClrLst meth="repeat">
      <a:schemeClr val="accent4">
        <a:shade val="80000"/>
      </a:schemeClr>
    </dgm:linClrLst>
    <dgm:effectClrLst/>
    <dgm:txLinClrLst/>
    <dgm:txFillClrLst meth="repeat">
      <a:schemeClr val="tx1"/>
    </dgm:txFillClrLst>
    <dgm:txEffectClrLst/>
  </dgm:styleLbl>
  <dgm:styleLbl name="parChTrans1D4">
    <dgm:fillClrLst meth="repeat">
      <a:schemeClr val="accent4"/>
    </dgm:fillClrLst>
    <dgm:linClrLst meth="repeat">
      <a:schemeClr val="accent4">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solidFgAcc1">
    <dgm:fillClrLst meth="repeat">
      <a:schemeClr val="lt1"/>
    </dgm:fillClrLst>
    <dgm:linClrLst meth="repeat">
      <a:schemeClr val="accent4"/>
    </dgm:linClrLst>
    <dgm:effectClrLst/>
    <dgm:txLinClrLst/>
    <dgm:txFillClrLst meth="repeat">
      <a:schemeClr val="dk1"/>
    </dgm:txFillClrLst>
    <dgm:txEffectClrLst/>
  </dgm:styleLbl>
  <dgm:styleLbl name="solidAlignAcc1">
    <dgm:fillClrLst meth="repeat">
      <a:schemeClr val="lt1"/>
    </dgm:fillClrLst>
    <dgm:linClrLst meth="repeat">
      <a:schemeClr val="accent4"/>
    </dgm:linClrLst>
    <dgm:effectClrLst/>
    <dgm:txLinClrLst/>
    <dgm:txFillClrLst meth="repeat">
      <a:schemeClr val="dk1"/>
    </dgm:txFillClrLst>
    <dgm:txEffectClrLst/>
  </dgm:styleLbl>
  <dgm:styleLbl name="solidBgAcc1">
    <dgm:fillClrLst meth="repeat">
      <a:schemeClr val="lt1"/>
    </dgm:fillClrLst>
    <dgm:linClrLst meth="repeat">
      <a:schemeClr val="accent4"/>
    </dgm:linClrLst>
    <dgm:effectClrLst/>
    <dgm:txLinClrLst/>
    <dgm:txFillClrLst meth="repeat">
      <a:schemeClr val="dk1"/>
    </dgm:txFillClrLst>
    <dgm:txEffectClrLst/>
  </dgm:styleLbl>
  <dgm:styleLbl name="fg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align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bg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accent4"/>
    </dgm:linClrLst>
    <dgm:effectClrLst/>
    <dgm:txLinClrLst/>
    <dgm:txFillClrLst meth="repeat">
      <a:schemeClr val="dk1"/>
    </dgm:txFillClrLst>
    <dgm:txEffectClrLst/>
  </dgm:styleLbl>
  <dgm:styleLbl name="dkBgShp">
    <dgm:fillClrLst meth="repeat">
      <a:schemeClr val="accent4">
        <a:shade val="80000"/>
      </a:schemeClr>
    </dgm:fillClrLst>
    <dgm:linClrLst meth="repeat">
      <a:schemeClr val="accent4"/>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4AE0EF5D-8E17-4BF1-9023-7072465CEA9A}" type="doc">
      <dgm:prSet loTypeId="urn:microsoft.com/office/officeart/2005/8/layout/hierarchy1" loCatId="hierarchy" qsTypeId="urn:microsoft.com/office/officeart/2005/8/quickstyle/simple1" qsCatId="simple" csTypeId="urn:microsoft.com/office/officeart/2005/8/colors/accent4_2" csCatId="accent4"/>
      <dgm:spPr/>
      <dgm:t>
        <a:bodyPr/>
        <a:lstStyle/>
        <a:p>
          <a:endParaRPr lang="en-US"/>
        </a:p>
      </dgm:t>
    </dgm:pt>
    <dgm:pt modelId="{F6A33F06-F2DF-4C61-B219-6F9012E220F6}">
      <dgm:prSet/>
      <dgm:spPr/>
      <dgm:t>
        <a:bodyPr/>
        <a:lstStyle/>
        <a:p>
          <a:r>
            <a:rPr lang="en-US"/>
            <a:t>Need: </a:t>
          </a:r>
          <a:r>
            <a:rPr lang="en-IN" i="1"/>
            <a:t>Explainable</a:t>
          </a:r>
          <a:r>
            <a:rPr lang="en-IN"/>
            <a:t>, </a:t>
          </a:r>
          <a:r>
            <a:rPr lang="en-IN" i="1"/>
            <a:t>query-driven</a:t>
          </a:r>
          <a:r>
            <a:rPr lang="en-IN"/>
            <a:t>, </a:t>
          </a:r>
          <a:r>
            <a:rPr lang="en-IN" i="1"/>
            <a:t>adaptive</a:t>
          </a:r>
          <a:r>
            <a:rPr lang="en-IN"/>
            <a:t> user grouping.</a:t>
          </a:r>
          <a:endParaRPr lang="en-US"/>
        </a:p>
      </dgm:t>
    </dgm:pt>
    <dgm:pt modelId="{601F1B8D-8F9E-4805-A78F-A644C75C6B3A}" type="parTrans" cxnId="{45F40717-905D-4F76-827D-97B6BA9F9DE8}">
      <dgm:prSet/>
      <dgm:spPr/>
      <dgm:t>
        <a:bodyPr/>
        <a:lstStyle/>
        <a:p>
          <a:endParaRPr lang="en-US"/>
        </a:p>
      </dgm:t>
    </dgm:pt>
    <dgm:pt modelId="{F6655E86-EF2C-4A0B-9B84-68C7275D54A9}" type="sibTrans" cxnId="{45F40717-905D-4F76-827D-97B6BA9F9DE8}">
      <dgm:prSet/>
      <dgm:spPr/>
      <dgm:t>
        <a:bodyPr/>
        <a:lstStyle/>
        <a:p>
          <a:endParaRPr lang="en-US"/>
        </a:p>
      </dgm:t>
    </dgm:pt>
    <dgm:pt modelId="{2C2A2B58-56C1-4FAE-B1F8-8F78C6FEC5AE}">
      <dgm:prSet/>
      <dgm:spPr/>
      <dgm:t>
        <a:bodyPr/>
        <a:lstStyle/>
        <a:p>
          <a:r>
            <a:rPr lang="en-IN"/>
            <a:t>Descriptions should be detailed in nature and understandable in natural languages </a:t>
          </a:r>
          <a:endParaRPr lang="en-US"/>
        </a:p>
      </dgm:t>
    </dgm:pt>
    <dgm:pt modelId="{B7C44C6D-0F7E-4931-BACB-D0129FA60C98}" type="parTrans" cxnId="{68FE759E-CCCD-4B5D-8279-89950BBDE1AB}">
      <dgm:prSet/>
      <dgm:spPr/>
      <dgm:t>
        <a:bodyPr/>
        <a:lstStyle/>
        <a:p>
          <a:endParaRPr lang="en-US"/>
        </a:p>
      </dgm:t>
    </dgm:pt>
    <dgm:pt modelId="{BB0C6C91-F43F-4BBF-9C97-D7B32D58E9F2}" type="sibTrans" cxnId="{68FE759E-CCCD-4B5D-8279-89950BBDE1AB}">
      <dgm:prSet/>
      <dgm:spPr/>
      <dgm:t>
        <a:bodyPr/>
        <a:lstStyle/>
        <a:p>
          <a:endParaRPr lang="en-US"/>
        </a:p>
      </dgm:t>
    </dgm:pt>
    <dgm:pt modelId="{FC1D67D6-06A6-427F-BABB-0989DCE39E9F}">
      <dgm:prSet/>
      <dgm:spPr/>
      <dgm:t>
        <a:bodyPr/>
        <a:lstStyle/>
        <a:p>
          <a:r>
            <a:rPr lang="en-IN"/>
            <a:t>Able to capture local behavioural patterns rather than global patterns</a:t>
          </a:r>
          <a:endParaRPr lang="en-US"/>
        </a:p>
      </dgm:t>
    </dgm:pt>
    <dgm:pt modelId="{967B6723-D544-4FAF-95D1-D6E8F86370E5}" type="parTrans" cxnId="{14DDD160-240B-4330-AC1B-0C80A1B0E80F}">
      <dgm:prSet/>
      <dgm:spPr/>
      <dgm:t>
        <a:bodyPr/>
        <a:lstStyle/>
        <a:p>
          <a:endParaRPr lang="en-US"/>
        </a:p>
      </dgm:t>
    </dgm:pt>
    <dgm:pt modelId="{97935E99-AFC4-4FCC-9D31-F5B8A91F2925}" type="sibTrans" cxnId="{14DDD160-240B-4330-AC1B-0C80A1B0E80F}">
      <dgm:prSet/>
      <dgm:spPr/>
      <dgm:t>
        <a:bodyPr/>
        <a:lstStyle/>
        <a:p>
          <a:endParaRPr lang="en-US"/>
        </a:p>
      </dgm:t>
    </dgm:pt>
    <dgm:pt modelId="{8C2185EA-8732-C145-8504-236350FA496A}" type="pres">
      <dgm:prSet presAssocID="{4AE0EF5D-8E17-4BF1-9023-7072465CEA9A}" presName="hierChild1" presStyleCnt="0">
        <dgm:presLayoutVars>
          <dgm:chPref val="1"/>
          <dgm:dir/>
          <dgm:animOne val="branch"/>
          <dgm:animLvl val="lvl"/>
          <dgm:resizeHandles/>
        </dgm:presLayoutVars>
      </dgm:prSet>
      <dgm:spPr/>
    </dgm:pt>
    <dgm:pt modelId="{BD0112B1-0572-5441-A7BB-E0AD7032C2D7}" type="pres">
      <dgm:prSet presAssocID="{F6A33F06-F2DF-4C61-B219-6F9012E220F6}" presName="hierRoot1" presStyleCnt="0"/>
      <dgm:spPr/>
    </dgm:pt>
    <dgm:pt modelId="{89A1F097-DD86-C647-AF7F-D7B4B0174FCC}" type="pres">
      <dgm:prSet presAssocID="{F6A33F06-F2DF-4C61-B219-6F9012E220F6}" presName="composite" presStyleCnt="0"/>
      <dgm:spPr/>
    </dgm:pt>
    <dgm:pt modelId="{CD3DDA11-F896-3447-A5E2-8224A417749B}" type="pres">
      <dgm:prSet presAssocID="{F6A33F06-F2DF-4C61-B219-6F9012E220F6}" presName="background" presStyleLbl="node0" presStyleIdx="0" presStyleCnt="3"/>
      <dgm:spPr/>
    </dgm:pt>
    <dgm:pt modelId="{CB73B456-91D0-3640-9337-D4C29B8B3F83}" type="pres">
      <dgm:prSet presAssocID="{F6A33F06-F2DF-4C61-B219-6F9012E220F6}" presName="text" presStyleLbl="fgAcc0" presStyleIdx="0" presStyleCnt="3">
        <dgm:presLayoutVars>
          <dgm:chPref val="3"/>
        </dgm:presLayoutVars>
      </dgm:prSet>
      <dgm:spPr/>
    </dgm:pt>
    <dgm:pt modelId="{C14B5A55-49F2-F64E-809E-D3FD4A0B3E0B}" type="pres">
      <dgm:prSet presAssocID="{F6A33F06-F2DF-4C61-B219-6F9012E220F6}" presName="hierChild2" presStyleCnt="0"/>
      <dgm:spPr/>
    </dgm:pt>
    <dgm:pt modelId="{4364A679-E6F1-3842-932E-B09A2E79C8EF}" type="pres">
      <dgm:prSet presAssocID="{2C2A2B58-56C1-4FAE-B1F8-8F78C6FEC5AE}" presName="hierRoot1" presStyleCnt="0"/>
      <dgm:spPr/>
    </dgm:pt>
    <dgm:pt modelId="{E553041B-5366-B447-B9BD-1E641975D246}" type="pres">
      <dgm:prSet presAssocID="{2C2A2B58-56C1-4FAE-B1F8-8F78C6FEC5AE}" presName="composite" presStyleCnt="0"/>
      <dgm:spPr/>
    </dgm:pt>
    <dgm:pt modelId="{9F985C07-1238-8C4C-8CB3-5C4AFE531431}" type="pres">
      <dgm:prSet presAssocID="{2C2A2B58-56C1-4FAE-B1F8-8F78C6FEC5AE}" presName="background" presStyleLbl="node0" presStyleIdx="1" presStyleCnt="3"/>
      <dgm:spPr/>
    </dgm:pt>
    <dgm:pt modelId="{11FDFBA4-66E7-C048-86CA-840020A57A66}" type="pres">
      <dgm:prSet presAssocID="{2C2A2B58-56C1-4FAE-B1F8-8F78C6FEC5AE}" presName="text" presStyleLbl="fgAcc0" presStyleIdx="1" presStyleCnt="3">
        <dgm:presLayoutVars>
          <dgm:chPref val="3"/>
        </dgm:presLayoutVars>
      </dgm:prSet>
      <dgm:spPr/>
    </dgm:pt>
    <dgm:pt modelId="{50CB1122-B81C-3041-B339-1A69CC6EC1B9}" type="pres">
      <dgm:prSet presAssocID="{2C2A2B58-56C1-4FAE-B1F8-8F78C6FEC5AE}" presName="hierChild2" presStyleCnt="0"/>
      <dgm:spPr/>
    </dgm:pt>
    <dgm:pt modelId="{4B2B925A-A768-1A41-9860-EE6B6CE4BC51}" type="pres">
      <dgm:prSet presAssocID="{FC1D67D6-06A6-427F-BABB-0989DCE39E9F}" presName="hierRoot1" presStyleCnt="0"/>
      <dgm:spPr/>
    </dgm:pt>
    <dgm:pt modelId="{8BF2013A-BFB4-F542-8928-99314F045CD2}" type="pres">
      <dgm:prSet presAssocID="{FC1D67D6-06A6-427F-BABB-0989DCE39E9F}" presName="composite" presStyleCnt="0"/>
      <dgm:spPr/>
    </dgm:pt>
    <dgm:pt modelId="{480A16E3-69FC-894A-97F8-FB9368975EB8}" type="pres">
      <dgm:prSet presAssocID="{FC1D67D6-06A6-427F-BABB-0989DCE39E9F}" presName="background" presStyleLbl="node0" presStyleIdx="2" presStyleCnt="3"/>
      <dgm:spPr/>
    </dgm:pt>
    <dgm:pt modelId="{84FCBDE8-AA61-A948-B9B4-B1F277531FBB}" type="pres">
      <dgm:prSet presAssocID="{FC1D67D6-06A6-427F-BABB-0989DCE39E9F}" presName="text" presStyleLbl="fgAcc0" presStyleIdx="2" presStyleCnt="3">
        <dgm:presLayoutVars>
          <dgm:chPref val="3"/>
        </dgm:presLayoutVars>
      </dgm:prSet>
      <dgm:spPr/>
    </dgm:pt>
    <dgm:pt modelId="{3FFBC478-ABB6-D64B-A706-E4E1779F55B5}" type="pres">
      <dgm:prSet presAssocID="{FC1D67D6-06A6-427F-BABB-0989DCE39E9F}" presName="hierChild2" presStyleCnt="0"/>
      <dgm:spPr/>
    </dgm:pt>
  </dgm:ptLst>
  <dgm:cxnLst>
    <dgm:cxn modelId="{45F40717-905D-4F76-827D-97B6BA9F9DE8}" srcId="{4AE0EF5D-8E17-4BF1-9023-7072465CEA9A}" destId="{F6A33F06-F2DF-4C61-B219-6F9012E220F6}" srcOrd="0" destOrd="0" parTransId="{601F1B8D-8F9E-4805-A78F-A644C75C6B3A}" sibTransId="{F6655E86-EF2C-4A0B-9B84-68C7275D54A9}"/>
    <dgm:cxn modelId="{36270644-EAC0-B346-AE39-D854ECE85723}" type="presOf" srcId="{2C2A2B58-56C1-4FAE-B1F8-8F78C6FEC5AE}" destId="{11FDFBA4-66E7-C048-86CA-840020A57A66}" srcOrd="0" destOrd="0" presId="urn:microsoft.com/office/officeart/2005/8/layout/hierarchy1"/>
    <dgm:cxn modelId="{14DDD160-240B-4330-AC1B-0C80A1B0E80F}" srcId="{4AE0EF5D-8E17-4BF1-9023-7072465CEA9A}" destId="{FC1D67D6-06A6-427F-BABB-0989DCE39E9F}" srcOrd="2" destOrd="0" parTransId="{967B6723-D544-4FAF-95D1-D6E8F86370E5}" sibTransId="{97935E99-AFC4-4FCC-9D31-F5B8A91F2925}"/>
    <dgm:cxn modelId="{68FE759E-CCCD-4B5D-8279-89950BBDE1AB}" srcId="{4AE0EF5D-8E17-4BF1-9023-7072465CEA9A}" destId="{2C2A2B58-56C1-4FAE-B1F8-8F78C6FEC5AE}" srcOrd="1" destOrd="0" parTransId="{B7C44C6D-0F7E-4931-BACB-D0129FA60C98}" sibTransId="{BB0C6C91-F43F-4BBF-9C97-D7B32D58E9F2}"/>
    <dgm:cxn modelId="{95D872C0-E471-2D42-B76B-41D90E36CE19}" type="presOf" srcId="{FC1D67D6-06A6-427F-BABB-0989DCE39E9F}" destId="{84FCBDE8-AA61-A948-B9B4-B1F277531FBB}" srcOrd="0" destOrd="0" presId="urn:microsoft.com/office/officeart/2005/8/layout/hierarchy1"/>
    <dgm:cxn modelId="{5F85D7DF-2AF3-784B-9C73-82131B132FF6}" type="presOf" srcId="{4AE0EF5D-8E17-4BF1-9023-7072465CEA9A}" destId="{8C2185EA-8732-C145-8504-236350FA496A}" srcOrd="0" destOrd="0" presId="urn:microsoft.com/office/officeart/2005/8/layout/hierarchy1"/>
    <dgm:cxn modelId="{2BCD5AF2-E078-F44C-BD10-FBEAD4A09FAF}" type="presOf" srcId="{F6A33F06-F2DF-4C61-B219-6F9012E220F6}" destId="{CB73B456-91D0-3640-9337-D4C29B8B3F83}" srcOrd="0" destOrd="0" presId="urn:microsoft.com/office/officeart/2005/8/layout/hierarchy1"/>
    <dgm:cxn modelId="{FA7425FC-2E57-D346-9B0E-AB39FB0AAFAD}" type="presParOf" srcId="{8C2185EA-8732-C145-8504-236350FA496A}" destId="{BD0112B1-0572-5441-A7BB-E0AD7032C2D7}" srcOrd="0" destOrd="0" presId="urn:microsoft.com/office/officeart/2005/8/layout/hierarchy1"/>
    <dgm:cxn modelId="{786DB28B-DB15-0646-B7F2-0260764E8B75}" type="presParOf" srcId="{BD0112B1-0572-5441-A7BB-E0AD7032C2D7}" destId="{89A1F097-DD86-C647-AF7F-D7B4B0174FCC}" srcOrd="0" destOrd="0" presId="urn:microsoft.com/office/officeart/2005/8/layout/hierarchy1"/>
    <dgm:cxn modelId="{FAD2D7D2-0008-834A-8395-95D4CA091947}" type="presParOf" srcId="{89A1F097-DD86-C647-AF7F-D7B4B0174FCC}" destId="{CD3DDA11-F896-3447-A5E2-8224A417749B}" srcOrd="0" destOrd="0" presId="urn:microsoft.com/office/officeart/2005/8/layout/hierarchy1"/>
    <dgm:cxn modelId="{BB8BE7EE-6714-044A-AA6B-B404199FEC71}" type="presParOf" srcId="{89A1F097-DD86-C647-AF7F-D7B4B0174FCC}" destId="{CB73B456-91D0-3640-9337-D4C29B8B3F83}" srcOrd="1" destOrd="0" presId="urn:microsoft.com/office/officeart/2005/8/layout/hierarchy1"/>
    <dgm:cxn modelId="{7E3521D1-D054-1C4B-91D9-B7CC0BEB738A}" type="presParOf" srcId="{BD0112B1-0572-5441-A7BB-E0AD7032C2D7}" destId="{C14B5A55-49F2-F64E-809E-D3FD4A0B3E0B}" srcOrd="1" destOrd="0" presId="urn:microsoft.com/office/officeart/2005/8/layout/hierarchy1"/>
    <dgm:cxn modelId="{D27186CC-B331-F345-B254-DFA29BDF51D9}" type="presParOf" srcId="{8C2185EA-8732-C145-8504-236350FA496A}" destId="{4364A679-E6F1-3842-932E-B09A2E79C8EF}" srcOrd="1" destOrd="0" presId="urn:microsoft.com/office/officeart/2005/8/layout/hierarchy1"/>
    <dgm:cxn modelId="{316058EE-F71E-D14C-AC5D-F5C96D0D36F6}" type="presParOf" srcId="{4364A679-E6F1-3842-932E-B09A2E79C8EF}" destId="{E553041B-5366-B447-B9BD-1E641975D246}" srcOrd="0" destOrd="0" presId="urn:microsoft.com/office/officeart/2005/8/layout/hierarchy1"/>
    <dgm:cxn modelId="{92649922-8FB2-B040-A241-1793270E45CA}" type="presParOf" srcId="{E553041B-5366-B447-B9BD-1E641975D246}" destId="{9F985C07-1238-8C4C-8CB3-5C4AFE531431}" srcOrd="0" destOrd="0" presId="urn:microsoft.com/office/officeart/2005/8/layout/hierarchy1"/>
    <dgm:cxn modelId="{20A6557A-2683-DB4C-AC6C-08A5E94ACE4E}" type="presParOf" srcId="{E553041B-5366-B447-B9BD-1E641975D246}" destId="{11FDFBA4-66E7-C048-86CA-840020A57A66}" srcOrd="1" destOrd="0" presId="urn:microsoft.com/office/officeart/2005/8/layout/hierarchy1"/>
    <dgm:cxn modelId="{65ECF580-F1CA-894D-AF25-A7D10187C286}" type="presParOf" srcId="{4364A679-E6F1-3842-932E-B09A2E79C8EF}" destId="{50CB1122-B81C-3041-B339-1A69CC6EC1B9}" srcOrd="1" destOrd="0" presId="urn:microsoft.com/office/officeart/2005/8/layout/hierarchy1"/>
    <dgm:cxn modelId="{0BD33C07-C612-664C-8B9F-811C543FEA25}" type="presParOf" srcId="{8C2185EA-8732-C145-8504-236350FA496A}" destId="{4B2B925A-A768-1A41-9860-EE6B6CE4BC51}" srcOrd="2" destOrd="0" presId="urn:microsoft.com/office/officeart/2005/8/layout/hierarchy1"/>
    <dgm:cxn modelId="{8CEAC415-8F4E-584D-AEE6-1F85F5AF497F}" type="presParOf" srcId="{4B2B925A-A768-1A41-9860-EE6B6CE4BC51}" destId="{8BF2013A-BFB4-F542-8928-99314F045CD2}" srcOrd="0" destOrd="0" presId="urn:microsoft.com/office/officeart/2005/8/layout/hierarchy1"/>
    <dgm:cxn modelId="{8BC11959-7483-EC4C-A6CF-66D12D540AE0}" type="presParOf" srcId="{8BF2013A-BFB4-F542-8928-99314F045CD2}" destId="{480A16E3-69FC-894A-97F8-FB9368975EB8}" srcOrd="0" destOrd="0" presId="urn:microsoft.com/office/officeart/2005/8/layout/hierarchy1"/>
    <dgm:cxn modelId="{BD4EE341-CB25-E148-80B8-C68937DF9409}" type="presParOf" srcId="{8BF2013A-BFB4-F542-8928-99314F045CD2}" destId="{84FCBDE8-AA61-A948-B9B4-B1F277531FBB}" srcOrd="1" destOrd="0" presId="urn:microsoft.com/office/officeart/2005/8/layout/hierarchy1"/>
    <dgm:cxn modelId="{7367F025-5307-5A4B-8B64-69A9A1C545FB}" type="presParOf" srcId="{4B2B925A-A768-1A41-9860-EE6B6CE4BC51}" destId="{3FFBC478-ABB6-D64B-A706-E4E1779F55B5}" srcOrd="1" destOrd="0" presId="urn:microsoft.com/office/officeart/2005/8/layout/hierarchy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D3DDA11-F896-3447-A5E2-8224A417749B}">
      <dsp:nvSpPr>
        <dsp:cNvPr id="0" name=""/>
        <dsp:cNvSpPr/>
      </dsp:nvSpPr>
      <dsp:spPr>
        <a:xfrm>
          <a:off x="0" y="706671"/>
          <a:ext cx="3073451" cy="1951641"/>
        </a:xfrm>
        <a:prstGeom prst="roundRect">
          <a:avLst>
            <a:gd name="adj" fmla="val 10000"/>
          </a:avLst>
        </a:prstGeom>
        <a:solidFill>
          <a:schemeClr val="accent4">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B73B456-91D0-3640-9337-D4C29B8B3F83}">
      <dsp:nvSpPr>
        <dsp:cNvPr id="0" name=""/>
        <dsp:cNvSpPr/>
      </dsp:nvSpPr>
      <dsp:spPr>
        <a:xfrm>
          <a:off x="341494" y="1031091"/>
          <a:ext cx="3073451" cy="1951641"/>
        </a:xfrm>
        <a:prstGeom prst="roundRect">
          <a:avLst>
            <a:gd name="adj" fmla="val 10000"/>
          </a:avLst>
        </a:prstGeom>
        <a:solidFill>
          <a:schemeClr val="lt1">
            <a:alpha val="90000"/>
            <a:hueOff val="0"/>
            <a:satOff val="0"/>
            <a:lumOff val="0"/>
            <a:alphaOff val="0"/>
          </a:schemeClr>
        </a:solidFill>
        <a:ln w="1905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kern="1200"/>
            <a:t>Need: </a:t>
          </a:r>
          <a:r>
            <a:rPr lang="en-IN" sz="2400" i="1" kern="1200"/>
            <a:t>Explainable</a:t>
          </a:r>
          <a:r>
            <a:rPr lang="en-IN" sz="2400" kern="1200"/>
            <a:t>, </a:t>
          </a:r>
          <a:r>
            <a:rPr lang="en-IN" sz="2400" i="1" kern="1200"/>
            <a:t>query-driven</a:t>
          </a:r>
          <a:r>
            <a:rPr lang="en-IN" sz="2400" kern="1200"/>
            <a:t>, </a:t>
          </a:r>
          <a:r>
            <a:rPr lang="en-IN" sz="2400" i="1" kern="1200"/>
            <a:t>adaptive</a:t>
          </a:r>
          <a:r>
            <a:rPr lang="en-IN" sz="2400" kern="1200"/>
            <a:t> user grouping.</a:t>
          </a:r>
          <a:endParaRPr lang="en-US" sz="2400" kern="1200"/>
        </a:p>
      </dsp:txBody>
      <dsp:txXfrm>
        <a:off x="398656" y="1088253"/>
        <a:ext cx="2959127" cy="1837317"/>
      </dsp:txXfrm>
    </dsp:sp>
    <dsp:sp modelId="{9F985C07-1238-8C4C-8CB3-5C4AFE531431}">
      <dsp:nvSpPr>
        <dsp:cNvPr id="0" name=""/>
        <dsp:cNvSpPr/>
      </dsp:nvSpPr>
      <dsp:spPr>
        <a:xfrm>
          <a:off x="3756441" y="706671"/>
          <a:ext cx="3073451" cy="1951641"/>
        </a:xfrm>
        <a:prstGeom prst="roundRect">
          <a:avLst>
            <a:gd name="adj" fmla="val 10000"/>
          </a:avLst>
        </a:prstGeom>
        <a:solidFill>
          <a:schemeClr val="accent4">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1FDFBA4-66E7-C048-86CA-840020A57A66}">
      <dsp:nvSpPr>
        <dsp:cNvPr id="0" name=""/>
        <dsp:cNvSpPr/>
      </dsp:nvSpPr>
      <dsp:spPr>
        <a:xfrm>
          <a:off x="4097935" y="1031091"/>
          <a:ext cx="3073451" cy="1951641"/>
        </a:xfrm>
        <a:prstGeom prst="roundRect">
          <a:avLst>
            <a:gd name="adj" fmla="val 10000"/>
          </a:avLst>
        </a:prstGeom>
        <a:solidFill>
          <a:schemeClr val="lt1">
            <a:alpha val="90000"/>
            <a:hueOff val="0"/>
            <a:satOff val="0"/>
            <a:lumOff val="0"/>
            <a:alphaOff val="0"/>
          </a:schemeClr>
        </a:solidFill>
        <a:ln w="1905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IN" sz="2400" kern="1200"/>
            <a:t>Descriptions should be detailed in nature and understandable in natural languages </a:t>
          </a:r>
          <a:endParaRPr lang="en-US" sz="2400" kern="1200"/>
        </a:p>
      </dsp:txBody>
      <dsp:txXfrm>
        <a:off x="4155097" y="1088253"/>
        <a:ext cx="2959127" cy="1837317"/>
      </dsp:txXfrm>
    </dsp:sp>
    <dsp:sp modelId="{480A16E3-69FC-894A-97F8-FB9368975EB8}">
      <dsp:nvSpPr>
        <dsp:cNvPr id="0" name=""/>
        <dsp:cNvSpPr/>
      </dsp:nvSpPr>
      <dsp:spPr>
        <a:xfrm>
          <a:off x="7512882" y="706671"/>
          <a:ext cx="3073451" cy="1951641"/>
        </a:xfrm>
        <a:prstGeom prst="roundRect">
          <a:avLst>
            <a:gd name="adj" fmla="val 10000"/>
          </a:avLst>
        </a:prstGeom>
        <a:solidFill>
          <a:schemeClr val="accent4">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4FCBDE8-AA61-A948-B9B4-B1F277531FBB}">
      <dsp:nvSpPr>
        <dsp:cNvPr id="0" name=""/>
        <dsp:cNvSpPr/>
      </dsp:nvSpPr>
      <dsp:spPr>
        <a:xfrm>
          <a:off x="7854377" y="1031091"/>
          <a:ext cx="3073451" cy="1951641"/>
        </a:xfrm>
        <a:prstGeom prst="roundRect">
          <a:avLst>
            <a:gd name="adj" fmla="val 10000"/>
          </a:avLst>
        </a:prstGeom>
        <a:solidFill>
          <a:schemeClr val="lt1">
            <a:alpha val="90000"/>
            <a:hueOff val="0"/>
            <a:satOff val="0"/>
            <a:lumOff val="0"/>
            <a:alphaOff val="0"/>
          </a:schemeClr>
        </a:solidFill>
        <a:ln w="1905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IN" sz="2400" kern="1200"/>
            <a:t>Able to capture local behavioural patterns rather than global patterns</a:t>
          </a:r>
          <a:endParaRPr lang="en-US" sz="2400" kern="1200"/>
        </a:p>
      </dsp:txBody>
      <dsp:txXfrm>
        <a:off x="7911539" y="1088253"/>
        <a:ext cx="2959127" cy="1837317"/>
      </dsp:txXfrm>
    </dsp:sp>
  </dsp:spTree>
</dsp:drawing>
</file>

<file path=ppt/diagrams/layout1.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158AAB-B655-DB3F-3BF5-04191FEC797A}"/>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050C8C1C-E8C8-B91C-4311-454E735CE17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8BD2E4CB-DCEB-AB3B-3825-D910E0C8954C}"/>
              </a:ext>
            </a:extLst>
          </p:cNvPr>
          <p:cNvSpPr>
            <a:spLocks noGrp="1"/>
          </p:cNvSpPr>
          <p:nvPr>
            <p:ph type="dt" sz="half" idx="10"/>
          </p:nvPr>
        </p:nvSpPr>
        <p:spPr/>
        <p:txBody>
          <a:bodyPr/>
          <a:lstStyle/>
          <a:p>
            <a:fld id="{DE9AABF8-13B3-4841-85F2-8422A8814C2C}" type="datetimeFigureOut">
              <a:rPr lang="en-US" smtClean="0"/>
              <a:t>7/20/25</a:t>
            </a:fld>
            <a:endParaRPr lang="en-US"/>
          </a:p>
        </p:txBody>
      </p:sp>
      <p:sp>
        <p:nvSpPr>
          <p:cNvPr id="5" name="Footer Placeholder 4">
            <a:extLst>
              <a:ext uri="{FF2B5EF4-FFF2-40B4-BE49-F238E27FC236}">
                <a16:creationId xmlns:a16="http://schemas.microsoft.com/office/drawing/2014/main" id="{C47BE84E-52B6-699F-470B-C200E86054F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0DAE2AD-1F59-F63E-FF03-FB4E5201122B}"/>
              </a:ext>
            </a:extLst>
          </p:cNvPr>
          <p:cNvSpPr>
            <a:spLocks noGrp="1"/>
          </p:cNvSpPr>
          <p:nvPr>
            <p:ph type="sldNum" sz="quarter" idx="12"/>
          </p:nvPr>
        </p:nvSpPr>
        <p:spPr/>
        <p:txBody>
          <a:bodyPr/>
          <a:lstStyle/>
          <a:p>
            <a:fld id="{5020BFFF-C27F-0747-8A50-573CA4EBA128}" type="slidenum">
              <a:rPr lang="en-US" smtClean="0"/>
              <a:t>‹#›</a:t>
            </a:fld>
            <a:endParaRPr lang="en-US"/>
          </a:p>
        </p:txBody>
      </p:sp>
    </p:spTree>
    <p:extLst>
      <p:ext uri="{BB962C8B-B14F-4D97-AF65-F5344CB8AC3E}">
        <p14:creationId xmlns:p14="http://schemas.microsoft.com/office/powerpoint/2010/main" val="222165574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7F6A20-2442-D48B-0B04-3A5A6A3C84C0}"/>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E5BAFE24-50B6-EFEC-98B3-BE6BC57CA569}"/>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E9581192-D655-2528-086D-6E7B8F515ADA}"/>
              </a:ext>
            </a:extLst>
          </p:cNvPr>
          <p:cNvSpPr>
            <a:spLocks noGrp="1"/>
          </p:cNvSpPr>
          <p:nvPr>
            <p:ph type="dt" sz="half" idx="10"/>
          </p:nvPr>
        </p:nvSpPr>
        <p:spPr/>
        <p:txBody>
          <a:bodyPr/>
          <a:lstStyle/>
          <a:p>
            <a:fld id="{DE9AABF8-13B3-4841-85F2-8422A8814C2C}" type="datetimeFigureOut">
              <a:rPr lang="en-US" smtClean="0"/>
              <a:t>7/20/25</a:t>
            </a:fld>
            <a:endParaRPr lang="en-US"/>
          </a:p>
        </p:txBody>
      </p:sp>
      <p:sp>
        <p:nvSpPr>
          <p:cNvPr id="5" name="Footer Placeholder 4">
            <a:extLst>
              <a:ext uri="{FF2B5EF4-FFF2-40B4-BE49-F238E27FC236}">
                <a16:creationId xmlns:a16="http://schemas.microsoft.com/office/drawing/2014/main" id="{5CF67398-766A-9F2F-7E9F-9E50B649878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0AD0CBA-FB34-4FDC-84A7-B5A6A984A3C3}"/>
              </a:ext>
            </a:extLst>
          </p:cNvPr>
          <p:cNvSpPr>
            <a:spLocks noGrp="1"/>
          </p:cNvSpPr>
          <p:nvPr>
            <p:ph type="sldNum" sz="quarter" idx="12"/>
          </p:nvPr>
        </p:nvSpPr>
        <p:spPr/>
        <p:txBody>
          <a:bodyPr/>
          <a:lstStyle/>
          <a:p>
            <a:fld id="{5020BFFF-C27F-0747-8A50-573CA4EBA128}" type="slidenum">
              <a:rPr lang="en-US" smtClean="0"/>
              <a:t>‹#›</a:t>
            </a:fld>
            <a:endParaRPr lang="en-US"/>
          </a:p>
        </p:txBody>
      </p:sp>
    </p:spTree>
    <p:extLst>
      <p:ext uri="{BB962C8B-B14F-4D97-AF65-F5344CB8AC3E}">
        <p14:creationId xmlns:p14="http://schemas.microsoft.com/office/powerpoint/2010/main" val="164360451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73D6BE-5D53-E99B-C1AD-CB945E346BE9}"/>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E864357B-E3AD-3BA6-7A69-481EF5C5DFF7}"/>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A9D6F7DE-9098-4FF3-8537-4E73F50BFD7E}"/>
              </a:ext>
            </a:extLst>
          </p:cNvPr>
          <p:cNvSpPr>
            <a:spLocks noGrp="1"/>
          </p:cNvSpPr>
          <p:nvPr>
            <p:ph type="dt" sz="half" idx="10"/>
          </p:nvPr>
        </p:nvSpPr>
        <p:spPr/>
        <p:txBody>
          <a:bodyPr/>
          <a:lstStyle/>
          <a:p>
            <a:fld id="{DE9AABF8-13B3-4841-85F2-8422A8814C2C}" type="datetimeFigureOut">
              <a:rPr lang="en-US" smtClean="0"/>
              <a:t>7/20/25</a:t>
            </a:fld>
            <a:endParaRPr lang="en-US"/>
          </a:p>
        </p:txBody>
      </p:sp>
      <p:sp>
        <p:nvSpPr>
          <p:cNvPr id="5" name="Footer Placeholder 4">
            <a:extLst>
              <a:ext uri="{FF2B5EF4-FFF2-40B4-BE49-F238E27FC236}">
                <a16:creationId xmlns:a16="http://schemas.microsoft.com/office/drawing/2014/main" id="{04785883-02FB-A5AA-31B3-F29B71F0953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0E3B191-3359-27DB-D1C6-99588F6046A9}"/>
              </a:ext>
            </a:extLst>
          </p:cNvPr>
          <p:cNvSpPr>
            <a:spLocks noGrp="1"/>
          </p:cNvSpPr>
          <p:nvPr>
            <p:ph type="sldNum" sz="quarter" idx="12"/>
          </p:nvPr>
        </p:nvSpPr>
        <p:spPr/>
        <p:txBody>
          <a:bodyPr/>
          <a:lstStyle/>
          <a:p>
            <a:fld id="{5020BFFF-C27F-0747-8A50-573CA4EBA128}" type="slidenum">
              <a:rPr lang="en-US" smtClean="0"/>
              <a:t>‹#›</a:t>
            </a:fld>
            <a:endParaRPr lang="en-US"/>
          </a:p>
        </p:txBody>
      </p:sp>
    </p:spTree>
    <p:extLst>
      <p:ext uri="{BB962C8B-B14F-4D97-AF65-F5344CB8AC3E}">
        <p14:creationId xmlns:p14="http://schemas.microsoft.com/office/powerpoint/2010/main" val="7980454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F3540F-F571-3B99-8D95-3AAAF8A4F542}"/>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CA74C078-099A-FF84-EDA2-DD4FFFBEBFF6}"/>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577FD84D-5CBD-E3E1-9BDC-EE40317C3733}"/>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568200CE-67F6-CCE6-1165-9EF96E75028D}"/>
              </a:ext>
            </a:extLst>
          </p:cNvPr>
          <p:cNvSpPr>
            <a:spLocks noGrp="1"/>
          </p:cNvSpPr>
          <p:nvPr>
            <p:ph type="dt" sz="half" idx="10"/>
          </p:nvPr>
        </p:nvSpPr>
        <p:spPr/>
        <p:txBody>
          <a:bodyPr/>
          <a:lstStyle/>
          <a:p>
            <a:fld id="{DE9AABF8-13B3-4841-85F2-8422A8814C2C}" type="datetimeFigureOut">
              <a:rPr lang="en-US" smtClean="0"/>
              <a:t>7/20/25</a:t>
            </a:fld>
            <a:endParaRPr lang="en-US"/>
          </a:p>
        </p:txBody>
      </p:sp>
      <p:sp>
        <p:nvSpPr>
          <p:cNvPr id="6" name="Footer Placeholder 5">
            <a:extLst>
              <a:ext uri="{FF2B5EF4-FFF2-40B4-BE49-F238E27FC236}">
                <a16:creationId xmlns:a16="http://schemas.microsoft.com/office/drawing/2014/main" id="{8921C69C-E56B-081C-88A2-1A9EF8A7470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18AB283-E1C6-12EC-F9DE-47EC495A01CA}"/>
              </a:ext>
            </a:extLst>
          </p:cNvPr>
          <p:cNvSpPr>
            <a:spLocks noGrp="1"/>
          </p:cNvSpPr>
          <p:nvPr>
            <p:ph type="sldNum" sz="quarter" idx="12"/>
          </p:nvPr>
        </p:nvSpPr>
        <p:spPr/>
        <p:txBody>
          <a:bodyPr/>
          <a:lstStyle/>
          <a:p>
            <a:fld id="{5020BFFF-C27F-0747-8A50-573CA4EBA128}" type="slidenum">
              <a:rPr lang="en-US" smtClean="0"/>
              <a:t>‹#›</a:t>
            </a:fld>
            <a:endParaRPr lang="en-US"/>
          </a:p>
        </p:txBody>
      </p:sp>
    </p:spTree>
    <p:extLst>
      <p:ext uri="{BB962C8B-B14F-4D97-AF65-F5344CB8AC3E}">
        <p14:creationId xmlns:p14="http://schemas.microsoft.com/office/powerpoint/2010/main" val="15304646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E63D84-5C21-CB26-81F2-FD91DB8E2BD9}"/>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7BF414DF-55FB-5DF4-CC4C-EF4B7D3E01D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90BA060A-9BE3-73C6-535D-2A9E3D5F1D0B}"/>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64E78065-4D2C-746D-7CAA-72ADC9103EA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E38F4317-8385-5845-485C-B6DC05A52108}"/>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1EEDCE21-D4F9-C220-FCE4-4F9471EB2483}"/>
              </a:ext>
            </a:extLst>
          </p:cNvPr>
          <p:cNvSpPr>
            <a:spLocks noGrp="1"/>
          </p:cNvSpPr>
          <p:nvPr>
            <p:ph type="dt" sz="half" idx="10"/>
          </p:nvPr>
        </p:nvSpPr>
        <p:spPr/>
        <p:txBody>
          <a:bodyPr/>
          <a:lstStyle/>
          <a:p>
            <a:fld id="{DE9AABF8-13B3-4841-85F2-8422A8814C2C}" type="datetimeFigureOut">
              <a:rPr lang="en-US" smtClean="0"/>
              <a:t>7/20/25</a:t>
            </a:fld>
            <a:endParaRPr lang="en-US"/>
          </a:p>
        </p:txBody>
      </p:sp>
      <p:sp>
        <p:nvSpPr>
          <p:cNvPr id="8" name="Footer Placeholder 7">
            <a:extLst>
              <a:ext uri="{FF2B5EF4-FFF2-40B4-BE49-F238E27FC236}">
                <a16:creationId xmlns:a16="http://schemas.microsoft.com/office/drawing/2014/main" id="{9C0DF469-DCAA-2C1B-0634-E43615F61FF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095D6D4B-A45D-0746-7ACD-02346083AC18}"/>
              </a:ext>
            </a:extLst>
          </p:cNvPr>
          <p:cNvSpPr>
            <a:spLocks noGrp="1"/>
          </p:cNvSpPr>
          <p:nvPr>
            <p:ph type="sldNum" sz="quarter" idx="12"/>
          </p:nvPr>
        </p:nvSpPr>
        <p:spPr/>
        <p:txBody>
          <a:bodyPr/>
          <a:lstStyle/>
          <a:p>
            <a:fld id="{5020BFFF-C27F-0747-8A50-573CA4EBA128}" type="slidenum">
              <a:rPr lang="en-US" smtClean="0"/>
              <a:t>‹#›</a:t>
            </a:fld>
            <a:endParaRPr lang="en-US"/>
          </a:p>
        </p:txBody>
      </p:sp>
    </p:spTree>
    <p:extLst>
      <p:ext uri="{BB962C8B-B14F-4D97-AF65-F5344CB8AC3E}">
        <p14:creationId xmlns:p14="http://schemas.microsoft.com/office/powerpoint/2010/main" val="269848732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CF6810-C252-B98D-8F01-D288A6E8D72A}"/>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40415FB3-32B7-EF99-A2FB-7930354C6193}"/>
              </a:ext>
            </a:extLst>
          </p:cNvPr>
          <p:cNvSpPr>
            <a:spLocks noGrp="1"/>
          </p:cNvSpPr>
          <p:nvPr>
            <p:ph type="dt" sz="half" idx="10"/>
          </p:nvPr>
        </p:nvSpPr>
        <p:spPr/>
        <p:txBody>
          <a:bodyPr/>
          <a:lstStyle/>
          <a:p>
            <a:fld id="{DE9AABF8-13B3-4841-85F2-8422A8814C2C}" type="datetimeFigureOut">
              <a:rPr lang="en-US" smtClean="0"/>
              <a:t>7/20/25</a:t>
            </a:fld>
            <a:endParaRPr lang="en-US"/>
          </a:p>
        </p:txBody>
      </p:sp>
      <p:sp>
        <p:nvSpPr>
          <p:cNvPr id="4" name="Footer Placeholder 3">
            <a:extLst>
              <a:ext uri="{FF2B5EF4-FFF2-40B4-BE49-F238E27FC236}">
                <a16:creationId xmlns:a16="http://schemas.microsoft.com/office/drawing/2014/main" id="{1FA90110-51A4-B7AE-09A1-A13252CC2669}"/>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F40E4887-A05D-6FB1-F336-29F5E0AE1D15}"/>
              </a:ext>
            </a:extLst>
          </p:cNvPr>
          <p:cNvSpPr>
            <a:spLocks noGrp="1"/>
          </p:cNvSpPr>
          <p:nvPr>
            <p:ph type="sldNum" sz="quarter" idx="12"/>
          </p:nvPr>
        </p:nvSpPr>
        <p:spPr/>
        <p:txBody>
          <a:bodyPr/>
          <a:lstStyle/>
          <a:p>
            <a:fld id="{5020BFFF-C27F-0747-8A50-573CA4EBA128}" type="slidenum">
              <a:rPr lang="en-US" smtClean="0"/>
              <a:t>‹#›</a:t>
            </a:fld>
            <a:endParaRPr lang="en-US"/>
          </a:p>
        </p:txBody>
      </p:sp>
    </p:spTree>
    <p:extLst>
      <p:ext uri="{BB962C8B-B14F-4D97-AF65-F5344CB8AC3E}">
        <p14:creationId xmlns:p14="http://schemas.microsoft.com/office/powerpoint/2010/main" val="19133379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E6B7630-89C6-D6E0-EF9D-C5D5CE50D31F}"/>
              </a:ext>
            </a:extLst>
          </p:cNvPr>
          <p:cNvSpPr>
            <a:spLocks noGrp="1"/>
          </p:cNvSpPr>
          <p:nvPr>
            <p:ph type="dt" sz="half" idx="10"/>
          </p:nvPr>
        </p:nvSpPr>
        <p:spPr/>
        <p:txBody>
          <a:bodyPr/>
          <a:lstStyle/>
          <a:p>
            <a:fld id="{DE9AABF8-13B3-4841-85F2-8422A8814C2C}" type="datetimeFigureOut">
              <a:rPr lang="en-US" smtClean="0"/>
              <a:t>7/20/25</a:t>
            </a:fld>
            <a:endParaRPr lang="en-US"/>
          </a:p>
        </p:txBody>
      </p:sp>
      <p:sp>
        <p:nvSpPr>
          <p:cNvPr id="3" name="Footer Placeholder 2">
            <a:extLst>
              <a:ext uri="{FF2B5EF4-FFF2-40B4-BE49-F238E27FC236}">
                <a16:creationId xmlns:a16="http://schemas.microsoft.com/office/drawing/2014/main" id="{88084C14-217C-C241-729A-4B9D29231C83}"/>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D55AB99E-E533-40F6-FED6-CB68C402A0E1}"/>
              </a:ext>
            </a:extLst>
          </p:cNvPr>
          <p:cNvSpPr>
            <a:spLocks noGrp="1"/>
          </p:cNvSpPr>
          <p:nvPr>
            <p:ph type="sldNum" sz="quarter" idx="12"/>
          </p:nvPr>
        </p:nvSpPr>
        <p:spPr/>
        <p:txBody>
          <a:bodyPr/>
          <a:lstStyle/>
          <a:p>
            <a:fld id="{5020BFFF-C27F-0747-8A50-573CA4EBA128}" type="slidenum">
              <a:rPr lang="en-US" smtClean="0"/>
              <a:t>‹#›</a:t>
            </a:fld>
            <a:endParaRPr lang="en-US"/>
          </a:p>
        </p:txBody>
      </p:sp>
    </p:spTree>
    <p:extLst>
      <p:ext uri="{BB962C8B-B14F-4D97-AF65-F5344CB8AC3E}">
        <p14:creationId xmlns:p14="http://schemas.microsoft.com/office/powerpoint/2010/main" val="24543049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FA3D5E-69D7-D2E9-DEE8-B5A4D255541A}"/>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317A3B99-3A44-0D8B-1E1A-0EB14B27203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254BD369-369F-1D77-072B-8BAF70AB0A0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6F319985-B8F9-1FE0-DDB7-77280C5BE161}"/>
              </a:ext>
            </a:extLst>
          </p:cNvPr>
          <p:cNvSpPr>
            <a:spLocks noGrp="1"/>
          </p:cNvSpPr>
          <p:nvPr>
            <p:ph type="dt" sz="half" idx="10"/>
          </p:nvPr>
        </p:nvSpPr>
        <p:spPr/>
        <p:txBody>
          <a:bodyPr/>
          <a:lstStyle/>
          <a:p>
            <a:fld id="{DE9AABF8-13B3-4841-85F2-8422A8814C2C}" type="datetimeFigureOut">
              <a:rPr lang="en-US" smtClean="0"/>
              <a:t>7/20/25</a:t>
            </a:fld>
            <a:endParaRPr lang="en-US"/>
          </a:p>
        </p:txBody>
      </p:sp>
      <p:sp>
        <p:nvSpPr>
          <p:cNvPr id="6" name="Footer Placeholder 5">
            <a:extLst>
              <a:ext uri="{FF2B5EF4-FFF2-40B4-BE49-F238E27FC236}">
                <a16:creationId xmlns:a16="http://schemas.microsoft.com/office/drawing/2014/main" id="{7414CCD2-BA1D-F436-CFFE-27DB30D7E31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699F86D-47D9-1909-BF71-69448CA142DF}"/>
              </a:ext>
            </a:extLst>
          </p:cNvPr>
          <p:cNvSpPr>
            <a:spLocks noGrp="1"/>
          </p:cNvSpPr>
          <p:nvPr>
            <p:ph type="sldNum" sz="quarter" idx="12"/>
          </p:nvPr>
        </p:nvSpPr>
        <p:spPr/>
        <p:txBody>
          <a:bodyPr/>
          <a:lstStyle/>
          <a:p>
            <a:fld id="{5020BFFF-C27F-0747-8A50-573CA4EBA128}" type="slidenum">
              <a:rPr lang="en-US" smtClean="0"/>
              <a:t>‹#›</a:t>
            </a:fld>
            <a:endParaRPr lang="en-US"/>
          </a:p>
        </p:txBody>
      </p:sp>
    </p:spTree>
    <p:extLst>
      <p:ext uri="{BB962C8B-B14F-4D97-AF65-F5344CB8AC3E}">
        <p14:creationId xmlns:p14="http://schemas.microsoft.com/office/powerpoint/2010/main" val="374787801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E10E48-011C-D4DB-FEB0-817E32162AF2}"/>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A4E671FA-E755-73E7-6081-F4F6A8F6A50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DEA83305-40C7-E4E7-9DAF-40B511DA715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29D45C8A-CDE2-718B-2498-00E7D9FEE47E}"/>
              </a:ext>
            </a:extLst>
          </p:cNvPr>
          <p:cNvSpPr>
            <a:spLocks noGrp="1"/>
          </p:cNvSpPr>
          <p:nvPr>
            <p:ph type="dt" sz="half" idx="10"/>
          </p:nvPr>
        </p:nvSpPr>
        <p:spPr/>
        <p:txBody>
          <a:bodyPr/>
          <a:lstStyle/>
          <a:p>
            <a:fld id="{DE9AABF8-13B3-4841-85F2-8422A8814C2C}" type="datetimeFigureOut">
              <a:rPr lang="en-US" smtClean="0"/>
              <a:t>7/20/25</a:t>
            </a:fld>
            <a:endParaRPr lang="en-US"/>
          </a:p>
        </p:txBody>
      </p:sp>
      <p:sp>
        <p:nvSpPr>
          <p:cNvPr id="6" name="Footer Placeholder 5">
            <a:extLst>
              <a:ext uri="{FF2B5EF4-FFF2-40B4-BE49-F238E27FC236}">
                <a16:creationId xmlns:a16="http://schemas.microsoft.com/office/drawing/2014/main" id="{91B57191-3385-0EEE-41C8-D37CF84B0C9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28ED005-96C2-66BA-8AB5-8578AA318ADF}"/>
              </a:ext>
            </a:extLst>
          </p:cNvPr>
          <p:cNvSpPr>
            <a:spLocks noGrp="1"/>
          </p:cNvSpPr>
          <p:nvPr>
            <p:ph type="sldNum" sz="quarter" idx="12"/>
          </p:nvPr>
        </p:nvSpPr>
        <p:spPr/>
        <p:txBody>
          <a:bodyPr/>
          <a:lstStyle/>
          <a:p>
            <a:fld id="{5020BFFF-C27F-0747-8A50-573CA4EBA128}" type="slidenum">
              <a:rPr lang="en-US" smtClean="0"/>
              <a:t>‹#›</a:t>
            </a:fld>
            <a:endParaRPr lang="en-US"/>
          </a:p>
        </p:txBody>
      </p:sp>
    </p:spTree>
    <p:extLst>
      <p:ext uri="{BB962C8B-B14F-4D97-AF65-F5344CB8AC3E}">
        <p14:creationId xmlns:p14="http://schemas.microsoft.com/office/powerpoint/2010/main" val="24421522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57EBD6-4E7F-3480-EFAD-C2E3EEF5CCAC}"/>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8AD93F3E-7534-6E2C-3754-9E71986422AA}"/>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84FFB6A5-BC41-E33E-82A0-EC1B01C2A4AD}"/>
              </a:ext>
            </a:extLst>
          </p:cNvPr>
          <p:cNvSpPr>
            <a:spLocks noGrp="1"/>
          </p:cNvSpPr>
          <p:nvPr>
            <p:ph type="dt" sz="half" idx="10"/>
          </p:nvPr>
        </p:nvSpPr>
        <p:spPr/>
        <p:txBody>
          <a:bodyPr/>
          <a:lstStyle/>
          <a:p>
            <a:fld id="{DE9AABF8-13B3-4841-85F2-8422A8814C2C}" type="datetimeFigureOut">
              <a:rPr lang="en-US" smtClean="0"/>
              <a:t>7/20/25</a:t>
            </a:fld>
            <a:endParaRPr lang="en-US"/>
          </a:p>
        </p:txBody>
      </p:sp>
      <p:sp>
        <p:nvSpPr>
          <p:cNvPr id="5" name="Footer Placeholder 4">
            <a:extLst>
              <a:ext uri="{FF2B5EF4-FFF2-40B4-BE49-F238E27FC236}">
                <a16:creationId xmlns:a16="http://schemas.microsoft.com/office/drawing/2014/main" id="{E9ED7A19-6F00-07DE-5288-29E232A2D4B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7CE7E99-1A93-54D0-B2C7-E3E42A40CEC0}"/>
              </a:ext>
            </a:extLst>
          </p:cNvPr>
          <p:cNvSpPr>
            <a:spLocks noGrp="1"/>
          </p:cNvSpPr>
          <p:nvPr>
            <p:ph type="sldNum" sz="quarter" idx="12"/>
          </p:nvPr>
        </p:nvSpPr>
        <p:spPr/>
        <p:txBody>
          <a:bodyPr/>
          <a:lstStyle/>
          <a:p>
            <a:fld id="{5020BFFF-C27F-0747-8A50-573CA4EBA128}" type="slidenum">
              <a:rPr lang="en-US" smtClean="0"/>
              <a:t>‹#›</a:t>
            </a:fld>
            <a:endParaRPr lang="en-US"/>
          </a:p>
        </p:txBody>
      </p:sp>
    </p:spTree>
    <p:extLst>
      <p:ext uri="{BB962C8B-B14F-4D97-AF65-F5344CB8AC3E}">
        <p14:creationId xmlns:p14="http://schemas.microsoft.com/office/powerpoint/2010/main" val="70581609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4DF7811-1765-9E52-DA64-21CC54F41E2C}"/>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39A3B535-8C5D-12E5-89B0-49502F15BEA5}"/>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620F3032-E757-6E49-F68A-B52A36011AD4}"/>
              </a:ext>
            </a:extLst>
          </p:cNvPr>
          <p:cNvSpPr>
            <a:spLocks noGrp="1"/>
          </p:cNvSpPr>
          <p:nvPr>
            <p:ph type="dt" sz="half" idx="10"/>
          </p:nvPr>
        </p:nvSpPr>
        <p:spPr/>
        <p:txBody>
          <a:bodyPr/>
          <a:lstStyle/>
          <a:p>
            <a:fld id="{DE9AABF8-13B3-4841-85F2-8422A8814C2C}" type="datetimeFigureOut">
              <a:rPr lang="en-US" smtClean="0"/>
              <a:t>7/20/25</a:t>
            </a:fld>
            <a:endParaRPr lang="en-US"/>
          </a:p>
        </p:txBody>
      </p:sp>
      <p:sp>
        <p:nvSpPr>
          <p:cNvPr id="5" name="Footer Placeholder 4">
            <a:extLst>
              <a:ext uri="{FF2B5EF4-FFF2-40B4-BE49-F238E27FC236}">
                <a16:creationId xmlns:a16="http://schemas.microsoft.com/office/drawing/2014/main" id="{4B0DE6EA-BF9C-08B1-3EB6-D28FC0C5236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434C6F1-830F-60D8-6CC8-B6984E9244D0}"/>
              </a:ext>
            </a:extLst>
          </p:cNvPr>
          <p:cNvSpPr>
            <a:spLocks noGrp="1"/>
          </p:cNvSpPr>
          <p:nvPr>
            <p:ph type="sldNum" sz="quarter" idx="12"/>
          </p:nvPr>
        </p:nvSpPr>
        <p:spPr/>
        <p:txBody>
          <a:bodyPr/>
          <a:lstStyle/>
          <a:p>
            <a:fld id="{5020BFFF-C27F-0747-8A50-573CA4EBA128}" type="slidenum">
              <a:rPr lang="en-US" smtClean="0"/>
              <a:t>‹#›</a:t>
            </a:fld>
            <a:endParaRPr lang="en-US"/>
          </a:p>
        </p:txBody>
      </p:sp>
    </p:spTree>
    <p:extLst>
      <p:ext uri="{BB962C8B-B14F-4D97-AF65-F5344CB8AC3E}">
        <p14:creationId xmlns:p14="http://schemas.microsoft.com/office/powerpoint/2010/main" val="88994690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8C0A549-C9D8-65CB-62DF-A737592CA64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2BFBA8C9-A107-3B18-015F-D7992A7EB7A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DA488485-3B90-4FDB-A4F6-855C5BBF1EB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DE9AABF8-13B3-4841-85F2-8422A8814C2C}" type="datetimeFigureOut">
              <a:rPr lang="en-US" smtClean="0"/>
              <a:t>7/20/25</a:t>
            </a:fld>
            <a:endParaRPr lang="en-US"/>
          </a:p>
        </p:txBody>
      </p:sp>
      <p:sp>
        <p:nvSpPr>
          <p:cNvPr id="5" name="Footer Placeholder 4">
            <a:extLst>
              <a:ext uri="{FF2B5EF4-FFF2-40B4-BE49-F238E27FC236}">
                <a16:creationId xmlns:a16="http://schemas.microsoft.com/office/drawing/2014/main" id="{B26C1431-1ED5-B90B-4A28-AF19F9C8F43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33A80E6E-5804-A0E3-67C0-5D1D15EE582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5020BFFF-C27F-0747-8A50-573CA4EBA128}" type="slidenum">
              <a:rPr lang="en-US" smtClean="0"/>
              <a:t>‹#›</a:t>
            </a:fld>
            <a:endParaRPr lang="en-US"/>
          </a:p>
        </p:txBody>
      </p:sp>
    </p:spTree>
    <p:extLst>
      <p:ext uri="{BB962C8B-B14F-4D97-AF65-F5344CB8AC3E}">
        <p14:creationId xmlns:p14="http://schemas.microsoft.com/office/powerpoint/2010/main" val="269356680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CCF51F-CF11-9E92-9DF0-F134AF80F710}"/>
              </a:ext>
            </a:extLst>
          </p:cNvPr>
          <p:cNvSpPr>
            <a:spLocks noGrp="1"/>
          </p:cNvSpPr>
          <p:nvPr>
            <p:ph type="ctrTitle"/>
          </p:nvPr>
        </p:nvSpPr>
        <p:spPr/>
        <p:txBody>
          <a:bodyPr>
            <a:normAutofit fontScale="90000"/>
          </a:bodyPr>
          <a:lstStyle/>
          <a:p>
            <a:r>
              <a:rPr lang="en-IN" dirty="0"/>
              <a:t>Multimodal RAG-Based Explainable Clustering of User Behaviour</a:t>
            </a:r>
            <a:endParaRPr lang="en-US" dirty="0"/>
          </a:p>
        </p:txBody>
      </p:sp>
      <p:sp>
        <p:nvSpPr>
          <p:cNvPr id="3" name="Subtitle 2">
            <a:extLst>
              <a:ext uri="{FF2B5EF4-FFF2-40B4-BE49-F238E27FC236}">
                <a16:creationId xmlns:a16="http://schemas.microsoft.com/office/drawing/2014/main" id="{5281502F-C818-10E5-F61E-1C14180A045F}"/>
              </a:ext>
            </a:extLst>
          </p:cNvPr>
          <p:cNvSpPr>
            <a:spLocks noGrp="1"/>
          </p:cNvSpPr>
          <p:nvPr>
            <p:ph type="subTitle" idx="1"/>
          </p:nvPr>
        </p:nvSpPr>
        <p:spPr/>
        <p:txBody>
          <a:bodyPr/>
          <a:lstStyle/>
          <a:p>
            <a:endParaRPr lang="en-IN" dirty="0"/>
          </a:p>
          <a:p>
            <a:r>
              <a:rPr lang="en-IN" dirty="0"/>
              <a:t>From behavioural Graphs → Image Descriptions → Query-Based Semantic Clustering</a:t>
            </a:r>
            <a:endParaRPr lang="en-US" dirty="0"/>
          </a:p>
        </p:txBody>
      </p:sp>
    </p:spTree>
    <p:extLst>
      <p:ext uri="{BB962C8B-B14F-4D97-AF65-F5344CB8AC3E}">
        <p14:creationId xmlns:p14="http://schemas.microsoft.com/office/powerpoint/2010/main" val="303447100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4BF3EF-5596-F10B-CD01-C443C1630235}"/>
              </a:ext>
            </a:extLst>
          </p:cNvPr>
          <p:cNvSpPr>
            <a:spLocks noGrp="1"/>
          </p:cNvSpPr>
          <p:nvPr>
            <p:ph type="title"/>
          </p:nvPr>
        </p:nvSpPr>
        <p:spPr/>
        <p:txBody>
          <a:bodyPr/>
          <a:lstStyle/>
          <a:p>
            <a:r>
              <a:rPr lang="en-IN" dirty="0"/>
              <a:t>Motivation</a:t>
            </a:r>
            <a:endParaRPr lang="en-US" dirty="0"/>
          </a:p>
        </p:txBody>
      </p:sp>
      <p:sp>
        <p:nvSpPr>
          <p:cNvPr id="3" name="Content Placeholder 2">
            <a:extLst>
              <a:ext uri="{FF2B5EF4-FFF2-40B4-BE49-F238E27FC236}">
                <a16:creationId xmlns:a16="http://schemas.microsoft.com/office/drawing/2014/main" id="{1009FBA4-5D9A-173F-A99D-BB17760B71B8}"/>
              </a:ext>
            </a:extLst>
          </p:cNvPr>
          <p:cNvSpPr>
            <a:spLocks noGrp="1"/>
          </p:cNvSpPr>
          <p:nvPr>
            <p:ph idx="1"/>
          </p:nvPr>
        </p:nvSpPr>
        <p:spPr>
          <a:xfrm>
            <a:off x="838200" y="1825624"/>
            <a:ext cx="10515600" cy="4840989"/>
          </a:xfrm>
        </p:spPr>
        <p:txBody>
          <a:bodyPr>
            <a:normAutofit/>
          </a:bodyPr>
          <a:lstStyle/>
          <a:p>
            <a:r>
              <a:rPr lang="en-IN" sz="1600" dirty="0"/>
              <a:t>Raw Features Are Not Interpretable</a:t>
            </a:r>
          </a:p>
          <a:p>
            <a:pPr lvl="1"/>
            <a:r>
              <a:rPr lang="en-IN" sz="1600" dirty="0"/>
              <a:t>Feature Engineering adds Bias &amp; Inflexibility</a:t>
            </a:r>
          </a:p>
          <a:p>
            <a:endParaRPr lang="en-IN" sz="1600" dirty="0"/>
          </a:p>
          <a:p>
            <a:r>
              <a:rPr lang="en-IN" sz="1600" dirty="0"/>
              <a:t>Lack of Contextual Semantics</a:t>
            </a:r>
          </a:p>
          <a:p>
            <a:pPr lvl="1"/>
            <a:r>
              <a:rPr lang="en-IN" sz="1600" dirty="0"/>
              <a:t>Traditional clustering methods (e.g., </a:t>
            </a:r>
            <a:r>
              <a:rPr lang="en-IN" sz="1600" dirty="0" err="1"/>
              <a:t>KMeans</a:t>
            </a:r>
            <a:r>
              <a:rPr lang="en-IN" sz="1600" dirty="0"/>
              <a:t>, DBSCAN) operate on </a:t>
            </a:r>
            <a:r>
              <a:rPr lang="en-IN" sz="1600" b="1" dirty="0"/>
              <a:t>numerical similarity </a:t>
            </a:r>
            <a:r>
              <a:rPr lang="en-IN" sz="1600" dirty="0"/>
              <a:t>not </a:t>
            </a:r>
            <a:r>
              <a:rPr lang="en-IN" sz="1600" b="1" dirty="0"/>
              <a:t>semantic similarity</a:t>
            </a:r>
            <a:r>
              <a:rPr lang="en-IN" sz="1600" dirty="0"/>
              <a:t>.</a:t>
            </a:r>
          </a:p>
          <a:p>
            <a:pPr lvl="1"/>
            <a:r>
              <a:rPr lang="en-IN" sz="1600" dirty="0"/>
              <a:t>They </a:t>
            </a:r>
            <a:r>
              <a:rPr lang="en-IN" sz="1600" b="1" dirty="0"/>
              <a:t>ignore natural-language descriptions or external context</a:t>
            </a:r>
            <a:r>
              <a:rPr lang="en-IN" sz="1600" dirty="0"/>
              <a:t>.</a:t>
            </a:r>
          </a:p>
          <a:p>
            <a:pPr lvl="1"/>
            <a:endParaRPr lang="en-IN" sz="1600" dirty="0"/>
          </a:p>
          <a:p>
            <a:r>
              <a:rPr lang="en-IN" sz="1600" dirty="0"/>
              <a:t>Static clustering gives one global partition.</a:t>
            </a:r>
          </a:p>
          <a:p>
            <a:pPr lvl="1"/>
            <a:r>
              <a:rPr lang="en-IN" sz="1600" dirty="0"/>
              <a:t>You can’t cluster based on dynamic queries like:</a:t>
            </a:r>
          </a:p>
          <a:p>
            <a:pPr lvl="1"/>
            <a:r>
              <a:rPr lang="en-IN" sz="1600" i="1" dirty="0"/>
              <a:t>“Who behaves erratically/stable during losses?”</a:t>
            </a:r>
          </a:p>
          <a:p>
            <a:pPr lvl="1"/>
            <a:endParaRPr lang="en-IN" sz="1600" i="1" dirty="0"/>
          </a:p>
          <a:p>
            <a:r>
              <a:rPr lang="en-IN" sz="1600" dirty="0"/>
              <a:t>No Explainability</a:t>
            </a:r>
          </a:p>
          <a:p>
            <a:pPr lvl="1"/>
            <a:r>
              <a:rPr lang="en-IN" sz="1600" dirty="0"/>
              <a:t>Clustering results (e.g., cluster centroids) are </a:t>
            </a:r>
            <a:r>
              <a:rPr lang="en-IN" sz="1600" b="1" dirty="0"/>
              <a:t>not human-interpretable</a:t>
            </a:r>
            <a:r>
              <a:rPr lang="en-IN" sz="1600" dirty="0"/>
              <a:t>.</a:t>
            </a:r>
          </a:p>
          <a:p>
            <a:pPr lvl="1"/>
            <a:endParaRPr lang="en-IN" sz="1600" dirty="0"/>
          </a:p>
        </p:txBody>
      </p:sp>
    </p:spTree>
    <p:extLst>
      <p:ext uri="{BB962C8B-B14F-4D97-AF65-F5344CB8AC3E}">
        <p14:creationId xmlns:p14="http://schemas.microsoft.com/office/powerpoint/2010/main" val="374331866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6753252F-4873-4F63-801D-CC719279A7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047C8CCB-F95D-4249-92DD-651249D353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2013557" cy="6858000"/>
          </a:xfrm>
          <a:prstGeom prst="rect">
            <a:avLst/>
          </a:prstGeom>
          <a:solidFill>
            <a:srgbClr val="7F7F7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276539F-E226-A16A-CC5A-C17B4520989F}"/>
              </a:ext>
            </a:extLst>
          </p:cNvPr>
          <p:cNvSpPr>
            <a:spLocks noGrp="1"/>
          </p:cNvSpPr>
          <p:nvPr>
            <p:ph type="title"/>
          </p:nvPr>
        </p:nvSpPr>
        <p:spPr>
          <a:xfrm>
            <a:off x="640080" y="2074363"/>
            <a:ext cx="2752354" cy="2709275"/>
          </a:xfrm>
          <a:prstGeom prst="ellipse">
            <a:avLst/>
          </a:prstGeom>
          <a:solidFill>
            <a:srgbClr val="262626"/>
          </a:solidFill>
          <a:ln w="174625" cmpd="thinThick">
            <a:solidFill>
              <a:srgbClr val="262626"/>
            </a:solidFill>
          </a:ln>
        </p:spPr>
        <p:txBody>
          <a:bodyPr vert="horz" lIns="91440" tIns="45720" rIns="91440" bIns="45720" rtlCol="0" anchor="ctr">
            <a:normAutofit/>
          </a:bodyPr>
          <a:lstStyle/>
          <a:p>
            <a:pPr algn="ctr"/>
            <a:r>
              <a:rPr lang="en-US" sz="2600" kern="1200">
                <a:solidFill>
                  <a:srgbClr val="FFFFFF"/>
                </a:solidFill>
                <a:latin typeface="+mj-lt"/>
                <a:ea typeface="+mj-ea"/>
                <a:cs typeface="+mj-cs"/>
              </a:rPr>
              <a:t>Why don’t you pass raw-json to LLM?</a:t>
            </a:r>
          </a:p>
        </p:txBody>
      </p:sp>
      <p:graphicFrame>
        <p:nvGraphicFramePr>
          <p:cNvPr id="4" name="Table 3">
            <a:extLst>
              <a:ext uri="{FF2B5EF4-FFF2-40B4-BE49-F238E27FC236}">
                <a16:creationId xmlns:a16="http://schemas.microsoft.com/office/drawing/2014/main" id="{DA15140A-B308-BAF3-D12C-A61C7835E8BC}"/>
              </a:ext>
            </a:extLst>
          </p:cNvPr>
          <p:cNvGraphicFramePr>
            <a:graphicFrameLocks noGrp="1"/>
          </p:cNvGraphicFramePr>
          <p:nvPr>
            <p:extLst>
              <p:ext uri="{D42A27DB-BD31-4B8C-83A1-F6EECF244321}">
                <p14:modId xmlns:p14="http://schemas.microsoft.com/office/powerpoint/2010/main" val="1101862678"/>
              </p:ext>
            </p:extLst>
          </p:nvPr>
        </p:nvGraphicFramePr>
        <p:xfrm>
          <a:off x="3526971" y="980645"/>
          <a:ext cx="8305799" cy="5040607"/>
        </p:xfrm>
        <a:graphic>
          <a:graphicData uri="http://schemas.openxmlformats.org/drawingml/2006/table">
            <a:tbl>
              <a:tblPr firstRow="1" bandRow="1"/>
              <a:tblGrid>
                <a:gridCol w="2393710">
                  <a:extLst>
                    <a:ext uri="{9D8B030D-6E8A-4147-A177-3AD203B41FA5}">
                      <a16:colId xmlns:a16="http://schemas.microsoft.com/office/drawing/2014/main" val="1784825524"/>
                    </a:ext>
                  </a:extLst>
                </a:gridCol>
                <a:gridCol w="3270766">
                  <a:extLst>
                    <a:ext uri="{9D8B030D-6E8A-4147-A177-3AD203B41FA5}">
                      <a16:colId xmlns:a16="http://schemas.microsoft.com/office/drawing/2014/main" val="4024617385"/>
                    </a:ext>
                  </a:extLst>
                </a:gridCol>
                <a:gridCol w="2641323">
                  <a:extLst>
                    <a:ext uri="{9D8B030D-6E8A-4147-A177-3AD203B41FA5}">
                      <a16:colId xmlns:a16="http://schemas.microsoft.com/office/drawing/2014/main" val="270543099"/>
                    </a:ext>
                  </a:extLst>
                </a:gridCol>
              </a:tblGrid>
              <a:tr h="475964">
                <a:tc>
                  <a:txBody>
                    <a:bodyPr/>
                    <a:lstStyle/>
                    <a:p>
                      <a:pPr algn="ctr" rtl="0" fontAlgn="b">
                        <a:buNone/>
                      </a:pPr>
                      <a:r>
                        <a:rPr lang="en-IN" sz="1300" b="1">
                          <a:effectLst/>
                        </a:rPr>
                        <a:t>actor</a:t>
                      </a:r>
                    </a:p>
                  </a:txBody>
                  <a:tcPr marL="21663" marR="21663" marT="14442" marB="14442"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ctr" rtl="0" fontAlgn="b">
                        <a:buNone/>
                      </a:pPr>
                      <a:r>
                        <a:rPr lang="en-IN" sz="1300" b="1">
                          <a:effectLst/>
                        </a:rPr>
                        <a:t>JSON Input (Structured Text)</a:t>
                      </a:r>
                    </a:p>
                  </a:txBody>
                  <a:tcPr marL="21663" marR="21663" marT="14442" marB="14442"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ctr" rtl="0" fontAlgn="b">
                        <a:buNone/>
                      </a:pPr>
                      <a:r>
                        <a:rPr lang="en-IN" sz="1300" b="1">
                          <a:effectLst/>
                        </a:rPr>
                        <a:t>Graph Image (Visual Representation)</a:t>
                      </a:r>
                    </a:p>
                  </a:txBody>
                  <a:tcPr marL="21663" marR="21663" marT="14442" marB="14442"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extLst>
                  <a:ext uri="{0D108BD9-81ED-4DB2-BD59-A6C34878D82A}">
                    <a16:rowId xmlns:a16="http://schemas.microsoft.com/office/drawing/2014/main" val="2164991963"/>
                  </a:ext>
                </a:extLst>
              </a:tr>
              <a:tr h="475964">
                <a:tc>
                  <a:txBody>
                    <a:bodyPr/>
                    <a:lstStyle/>
                    <a:p>
                      <a:pPr rtl="0" fontAlgn="b">
                        <a:buNone/>
                      </a:pPr>
                      <a:r>
                        <a:rPr lang="en-IN" sz="1300">
                          <a:effectLst/>
                        </a:rPr>
                        <a:t>🧠 Interpretability</a:t>
                      </a:r>
                    </a:p>
                  </a:txBody>
                  <a:tcPr marL="21663" marR="21663" marT="14442" marB="14442"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rtl="0" fontAlgn="b">
                        <a:buNone/>
                      </a:pPr>
                      <a:r>
                        <a:rPr lang="en-IN" sz="1300">
                          <a:effectLst/>
                        </a:rPr>
                        <a:t>Requires understanding each field and its units explicitly</a:t>
                      </a:r>
                    </a:p>
                  </a:txBody>
                  <a:tcPr marL="21663" marR="21663" marT="14442" marB="14442"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rtl="0" fontAlgn="b">
                        <a:buNone/>
                      </a:pPr>
                      <a:r>
                        <a:rPr lang="en-IN" sz="1300">
                          <a:effectLst/>
                        </a:rPr>
                        <a:t>Humans (and LLMs) can infer trends visually</a:t>
                      </a:r>
                    </a:p>
                  </a:txBody>
                  <a:tcPr marL="21663" marR="21663" marT="14442" marB="14442"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extLst>
                  <a:ext uri="{0D108BD9-81ED-4DB2-BD59-A6C34878D82A}">
                    <a16:rowId xmlns:a16="http://schemas.microsoft.com/office/drawing/2014/main" val="4216932260"/>
                  </a:ext>
                </a:extLst>
              </a:tr>
              <a:tr h="679181">
                <a:tc>
                  <a:txBody>
                    <a:bodyPr/>
                    <a:lstStyle/>
                    <a:p>
                      <a:pPr rtl="0" fontAlgn="b">
                        <a:buNone/>
                      </a:pPr>
                      <a:r>
                        <a:rPr lang="en-IN" sz="1300">
                          <a:effectLst/>
                        </a:rPr>
                        <a:t>👀 Pattern Recognition</a:t>
                      </a:r>
                    </a:p>
                  </a:txBody>
                  <a:tcPr marL="21663" marR="21663" marT="14442" marB="14442"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rtl="0" fontAlgn="b">
                        <a:buNone/>
                      </a:pPr>
                      <a:r>
                        <a:rPr lang="en-IN" sz="1300">
                          <a:effectLst/>
                        </a:rPr>
                        <a:t>Hard to detect spikes, trends, or cycles in numbers</a:t>
                      </a:r>
                    </a:p>
                  </a:txBody>
                  <a:tcPr marL="21663" marR="21663" marT="14442" marB="14442"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rtl="0" fontAlgn="b">
                        <a:buNone/>
                      </a:pPr>
                      <a:r>
                        <a:rPr lang="en-IN" sz="1300">
                          <a:effectLst/>
                        </a:rPr>
                        <a:t>Visual shape conveys patterns instantly (e.g., bursts, decay)</a:t>
                      </a:r>
                    </a:p>
                  </a:txBody>
                  <a:tcPr marL="21663" marR="21663" marT="14442" marB="14442"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extLst>
                  <a:ext uri="{0D108BD9-81ED-4DB2-BD59-A6C34878D82A}">
                    <a16:rowId xmlns:a16="http://schemas.microsoft.com/office/drawing/2014/main" val="253999259"/>
                  </a:ext>
                </a:extLst>
              </a:tr>
              <a:tr h="679181">
                <a:tc>
                  <a:txBody>
                    <a:bodyPr/>
                    <a:lstStyle/>
                    <a:p>
                      <a:pPr rtl="0" fontAlgn="b">
                        <a:buNone/>
                      </a:pPr>
                      <a:r>
                        <a:rPr lang="en-IN" sz="1300">
                          <a:effectLst/>
                        </a:rPr>
                        <a:t>🧩 Semantic Density</a:t>
                      </a:r>
                    </a:p>
                  </a:txBody>
                  <a:tcPr marL="21663" marR="21663" marT="14442" marB="14442"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rtl="0" fontAlgn="b">
                        <a:buNone/>
                      </a:pPr>
                      <a:r>
                        <a:rPr lang="en-IN" sz="1300">
                          <a:effectLst/>
                        </a:rPr>
                        <a:t>One field = one fact; lacks context of relation between fields</a:t>
                      </a:r>
                    </a:p>
                  </a:txBody>
                  <a:tcPr marL="21663" marR="21663" marT="14442" marB="14442"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rtl="0" fontAlgn="b">
                        <a:buNone/>
                      </a:pPr>
                      <a:r>
                        <a:rPr lang="en-IN" sz="1300">
                          <a:effectLst/>
                        </a:rPr>
                        <a:t>Graph shape encodes multiple relationships simultaneously</a:t>
                      </a:r>
                    </a:p>
                  </a:txBody>
                  <a:tcPr marL="21663" marR="21663" marT="14442" marB="14442"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extLst>
                  <a:ext uri="{0D108BD9-81ED-4DB2-BD59-A6C34878D82A}">
                    <a16:rowId xmlns:a16="http://schemas.microsoft.com/office/drawing/2014/main" val="1568862259"/>
                  </a:ext>
                </a:extLst>
              </a:tr>
              <a:tr h="475964">
                <a:tc>
                  <a:txBody>
                    <a:bodyPr/>
                    <a:lstStyle/>
                    <a:p>
                      <a:pPr rtl="0" fontAlgn="b">
                        <a:buNone/>
                      </a:pPr>
                      <a:r>
                        <a:rPr lang="en-IN" sz="1300">
                          <a:effectLst/>
                        </a:rPr>
                        <a:t>🧵 Temporal/Structural Relationships</a:t>
                      </a:r>
                    </a:p>
                  </a:txBody>
                  <a:tcPr marL="21663" marR="21663" marT="14442" marB="14442"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rtl="0" fontAlgn="b">
                        <a:buNone/>
                      </a:pPr>
                      <a:r>
                        <a:rPr lang="en-IN" sz="1300">
                          <a:effectLst/>
                        </a:rPr>
                        <a:t>Implicit; needs engineered features</a:t>
                      </a:r>
                    </a:p>
                  </a:txBody>
                  <a:tcPr marL="21663" marR="21663" marT="14442" marB="14442"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rtl="0" fontAlgn="b">
                        <a:buNone/>
                      </a:pPr>
                      <a:r>
                        <a:rPr lang="en-IN" sz="1300">
                          <a:effectLst/>
                        </a:rPr>
                        <a:t>Explicit in layout (e.g., time on x-axis, activity on y-axis)</a:t>
                      </a:r>
                    </a:p>
                  </a:txBody>
                  <a:tcPr marL="21663" marR="21663" marT="14442" marB="14442"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extLst>
                  <a:ext uri="{0D108BD9-81ED-4DB2-BD59-A6C34878D82A}">
                    <a16:rowId xmlns:a16="http://schemas.microsoft.com/office/drawing/2014/main" val="3807177475"/>
                  </a:ext>
                </a:extLst>
              </a:tr>
              <a:tr h="679181">
                <a:tc>
                  <a:txBody>
                    <a:bodyPr/>
                    <a:lstStyle/>
                    <a:p>
                      <a:pPr rtl="0" fontAlgn="b">
                        <a:buNone/>
                      </a:pPr>
                      <a:r>
                        <a:rPr lang="en-IN" sz="1300">
                          <a:effectLst/>
                        </a:rPr>
                        <a:t>💬 Natural Language Generation</a:t>
                      </a:r>
                    </a:p>
                  </a:txBody>
                  <a:tcPr marL="21663" marR="21663" marT="14442" marB="14442"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rtl="0" fontAlgn="b">
                        <a:buNone/>
                      </a:pPr>
                      <a:r>
                        <a:rPr lang="en-IN" sz="1300">
                          <a:effectLst/>
                        </a:rPr>
                        <a:t>LLM must be prompted to infer context from raw fields</a:t>
                      </a:r>
                    </a:p>
                  </a:txBody>
                  <a:tcPr marL="21663" marR="21663" marT="14442" marB="14442"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rtl="0" fontAlgn="b">
                        <a:buNone/>
                      </a:pPr>
                      <a:r>
                        <a:rPr lang="en-IN" sz="1300">
                          <a:effectLst/>
                        </a:rPr>
                        <a:t>Vision-Language LLMs directly describe graph behavior</a:t>
                      </a:r>
                    </a:p>
                  </a:txBody>
                  <a:tcPr marL="21663" marR="21663" marT="14442" marB="14442"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extLst>
                  <a:ext uri="{0D108BD9-81ED-4DB2-BD59-A6C34878D82A}">
                    <a16:rowId xmlns:a16="http://schemas.microsoft.com/office/drawing/2014/main" val="105605309"/>
                  </a:ext>
                </a:extLst>
              </a:tr>
              <a:tr h="475964">
                <a:tc>
                  <a:txBody>
                    <a:bodyPr/>
                    <a:lstStyle/>
                    <a:p>
                      <a:pPr rtl="0" fontAlgn="b">
                        <a:buNone/>
                      </a:pPr>
                      <a:r>
                        <a:rPr lang="en-IN" sz="1300">
                          <a:effectLst/>
                        </a:rPr>
                        <a:t>🧱 Robustness to Feature Noise</a:t>
                      </a:r>
                    </a:p>
                  </a:txBody>
                  <a:tcPr marL="21663" marR="21663" marT="14442" marB="14442"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rtl="0" fontAlgn="b">
                        <a:buNone/>
                      </a:pPr>
                      <a:r>
                        <a:rPr lang="en-IN" sz="1300">
                          <a:effectLst/>
                        </a:rPr>
                        <a:t>Sensitive to noisy/irrelevant fields</a:t>
                      </a:r>
                    </a:p>
                  </a:txBody>
                  <a:tcPr marL="21663" marR="21663" marT="14442" marB="14442"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rtl="0" fontAlgn="b">
                        <a:buNone/>
                      </a:pPr>
                      <a:r>
                        <a:rPr lang="en-IN" sz="1300">
                          <a:effectLst/>
                        </a:rPr>
                        <a:t>Graph abstracts away less relevant details</a:t>
                      </a:r>
                    </a:p>
                  </a:txBody>
                  <a:tcPr marL="21663" marR="21663" marT="14442" marB="14442"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extLst>
                  <a:ext uri="{0D108BD9-81ED-4DB2-BD59-A6C34878D82A}">
                    <a16:rowId xmlns:a16="http://schemas.microsoft.com/office/drawing/2014/main" val="3248601320"/>
                  </a:ext>
                </a:extLst>
              </a:tr>
              <a:tr h="475964">
                <a:tc>
                  <a:txBody>
                    <a:bodyPr/>
                    <a:lstStyle/>
                    <a:p>
                      <a:pPr rtl="0" fontAlgn="b">
                        <a:buNone/>
                      </a:pPr>
                      <a:r>
                        <a:rPr lang="en-IN" sz="1300">
                          <a:effectLst/>
                        </a:rPr>
                        <a:t>🔄 Alignment with Query Intent</a:t>
                      </a:r>
                    </a:p>
                  </a:txBody>
                  <a:tcPr marL="21663" marR="21663" marT="14442" marB="14442"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rtl="0" fontAlgn="b">
                        <a:buNone/>
                      </a:pPr>
                      <a:r>
                        <a:rPr lang="en-IN" sz="1300">
                          <a:effectLst/>
                        </a:rPr>
                        <a:t>Query must map to specific fields</a:t>
                      </a:r>
                    </a:p>
                  </a:txBody>
                  <a:tcPr marL="21663" marR="21663" marT="14442" marB="14442"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rtl="0" fontAlgn="b">
                        <a:buNone/>
                      </a:pPr>
                      <a:r>
                        <a:rPr lang="en-IN" sz="1300" dirty="0">
                          <a:effectLst/>
                        </a:rPr>
                        <a:t>LLMs can match query to semantic content of image (often involves multiple fields)</a:t>
                      </a:r>
                    </a:p>
                  </a:txBody>
                  <a:tcPr marL="21663" marR="21663" marT="14442" marB="14442"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extLst>
                  <a:ext uri="{0D108BD9-81ED-4DB2-BD59-A6C34878D82A}">
                    <a16:rowId xmlns:a16="http://schemas.microsoft.com/office/drawing/2014/main" val="3325312450"/>
                  </a:ext>
                </a:extLst>
              </a:tr>
              <a:tr h="475964">
                <a:tc>
                  <a:txBody>
                    <a:bodyPr/>
                    <a:lstStyle/>
                    <a:p>
                      <a:pPr rtl="0" fontAlgn="b">
                        <a:buNone/>
                      </a:pPr>
                      <a:r>
                        <a:rPr lang="en-IN" sz="1300">
                          <a:effectLst/>
                        </a:rPr>
                        <a:t>🔮 Explainability</a:t>
                      </a:r>
                    </a:p>
                  </a:txBody>
                  <a:tcPr marL="21663" marR="21663" marT="14442" marB="14442"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rtl="0" fontAlgn="b">
                        <a:buNone/>
                      </a:pPr>
                      <a:r>
                        <a:rPr lang="en-IN" sz="1300">
                          <a:effectLst/>
                        </a:rPr>
                        <a:t>Needs post hoc analysis to generate textual summary</a:t>
                      </a:r>
                    </a:p>
                  </a:txBody>
                  <a:tcPr marL="21663" marR="21663" marT="14442" marB="14442"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rtl="0" fontAlgn="b">
                        <a:buNone/>
                      </a:pPr>
                      <a:r>
                        <a:rPr lang="en-IN" sz="1300" dirty="0">
                          <a:effectLst/>
                        </a:rPr>
                        <a:t>LLM generates descriptive summary directly from image</a:t>
                      </a:r>
                    </a:p>
                  </a:txBody>
                  <a:tcPr marL="21663" marR="21663" marT="14442" marB="14442"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extLst>
                  <a:ext uri="{0D108BD9-81ED-4DB2-BD59-A6C34878D82A}">
                    <a16:rowId xmlns:a16="http://schemas.microsoft.com/office/drawing/2014/main" val="3964218447"/>
                  </a:ext>
                </a:extLst>
              </a:tr>
            </a:tbl>
          </a:graphicData>
        </a:graphic>
      </p:graphicFrame>
    </p:spTree>
    <p:extLst>
      <p:ext uri="{BB962C8B-B14F-4D97-AF65-F5344CB8AC3E}">
        <p14:creationId xmlns:p14="http://schemas.microsoft.com/office/powerpoint/2010/main" val="131502970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2170031"/>
          </a:xfrm>
          <a:prstGeom prst="rect">
            <a:avLst/>
          </a:prstGeom>
          <a:gradFill>
            <a:gsLst>
              <a:gs pos="0">
                <a:srgbClr val="000000">
                  <a:alpha val="96000"/>
                </a:srgbClr>
              </a:gs>
              <a:gs pos="100000">
                <a:schemeClr val="accent1">
                  <a:lumMod val="75000"/>
                </a:schemeClr>
              </a:gs>
            </a:gsLst>
            <a:lin ang="19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082819" y="0"/>
            <a:ext cx="4097211" cy="2170661"/>
          </a:xfrm>
          <a:prstGeom prst="rect">
            <a:avLst/>
          </a:prstGeom>
          <a:gradFill>
            <a:gsLst>
              <a:gs pos="19000">
                <a:schemeClr val="accent1">
                  <a:lumMod val="50000"/>
                  <a:alpha val="68000"/>
                </a:schemeClr>
              </a:gs>
              <a:gs pos="100000">
                <a:schemeClr val="accent1">
                  <a:alpha val="48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5010646" y="-5010043"/>
            <a:ext cx="2170709" cy="12192000"/>
          </a:xfrm>
          <a:prstGeom prst="rect">
            <a:avLst/>
          </a:prstGeom>
          <a:gradFill>
            <a:gsLst>
              <a:gs pos="23000">
                <a:schemeClr val="accent1">
                  <a:lumMod val="75000"/>
                  <a:alpha val="16000"/>
                </a:schemeClr>
              </a:gs>
              <a:gs pos="99000">
                <a:srgbClr val="000000">
                  <a:alpha val="45000"/>
                </a:srgbClr>
              </a:gs>
            </a:gsLst>
            <a:lin ang="21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11F31432-867B-B150-FC9D-C137834DF2CF}"/>
              </a:ext>
            </a:extLst>
          </p:cNvPr>
          <p:cNvSpPr>
            <a:spLocks noGrp="1"/>
          </p:cNvSpPr>
          <p:nvPr>
            <p:ph type="title"/>
          </p:nvPr>
        </p:nvSpPr>
        <p:spPr>
          <a:xfrm>
            <a:off x="1383564" y="348865"/>
            <a:ext cx="9718111" cy="1576446"/>
          </a:xfrm>
        </p:spPr>
        <p:txBody>
          <a:bodyPr anchor="ctr">
            <a:normAutofit/>
          </a:bodyPr>
          <a:lstStyle/>
          <a:p>
            <a:r>
              <a:rPr lang="en-US" sz="4000">
                <a:solidFill>
                  <a:srgbClr val="FFFFFF"/>
                </a:solidFill>
              </a:rPr>
              <a:t>Why Multimodal-RAG</a:t>
            </a:r>
          </a:p>
        </p:txBody>
      </p:sp>
      <p:graphicFrame>
        <p:nvGraphicFramePr>
          <p:cNvPr id="5" name="Content Placeholder 2">
            <a:extLst>
              <a:ext uri="{FF2B5EF4-FFF2-40B4-BE49-F238E27FC236}">
                <a16:creationId xmlns:a16="http://schemas.microsoft.com/office/drawing/2014/main" id="{5FD2F03A-B380-DD64-58E0-0A2A03078248}"/>
              </a:ext>
            </a:extLst>
          </p:cNvPr>
          <p:cNvGraphicFramePr>
            <a:graphicFrameLocks noGrp="1"/>
          </p:cNvGraphicFramePr>
          <p:nvPr>
            <p:ph idx="1"/>
            <p:extLst>
              <p:ext uri="{D42A27DB-BD31-4B8C-83A1-F6EECF244321}">
                <p14:modId xmlns:p14="http://schemas.microsoft.com/office/powerpoint/2010/main" val="2068319160"/>
              </p:ext>
            </p:extLst>
          </p:nvPr>
        </p:nvGraphicFramePr>
        <p:xfrm>
          <a:off x="644056" y="2615979"/>
          <a:ext cx="10927829" cy="36894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47957692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8854CB-86E1-F637-FA92-81829D97F638}"/>
              </a:ext>
            </a:extLst>
          </p:cNvPr>
          <p:cNvSpPr>
            <a:spLocks noGrp="1"/>
          </p:cNvSpPr>
          <p:nvPr>
            <p:ph type="title"/>
          </p:nvPr>
        </p:nvSpPr>
        <p:spPr/>
        <p:txBody>
          <a:bodyPr/>
          <a:lstStyle/>
          <a:p>
            <a:r>
              <a:rPr lang="en-US" dirty="0"/>
              <a:t>Why Multimodal-RAG</a:t>
            </a:r>
          </a:p>
        </p:txBody>
      </p:sp>
      <p:sp>
        <p:nvSpPr>
          <p:cNvPr id="3" name="Content Placeholder 2">
            <a:extLst>
              <a:ext uri="{FF2B5EF4-FFF2-40B4-BE49-F238E27FC236}">
                <a16:creationId xmlns:a16="http://schemas.microsoft.com/office/drawing/2014/main" id="{8F7DC114-EDB2-EB1C-5E30-22D60878EFAE}"/>
              </a:ext>
            </a:extLst>
          </p:cNvPr>
          <p:cNvSpPr>
            <a:spLocks noGrp="1"/>
          </p:cNvSpPr>
          <p:nvPr>
            <p:ph idx="1"/>
          </p:nvPr>
        </p:nvSpPr>
        <p:spPr/>
        <p:txBody>
          <a:bodyPr>
            <a:normAutofit/>
          </a:bodyPr>
          <a:lstStyle/>
          <a:p>
            <a:endParaRPr lang="en-IN" sz="1400" dirty="0"/>
          </a:p>
          <a:p>
            <a:r>
              <a:rPr lang="en-IN" sz="1400" b="1" dirty="0"/>
              <a:t>Query</a:t>
            </a:r>
            <a:r>
              <a:rPr lang="en-IN" sz="1400" dirty="0"/>
              <a:t>: </a:t>
            </a:r>
            <a:r>
              <a:rPr lang="en-IN" sz="1400" i="1" dirty="0"/>
              <a:t>“Cluster users based on image-description such that each group will have explainability with respect to :</a:t>
            </a:r>
            <a:endParaRPr lang="en-IN" sz="1400" dirty="0"/>
          </a:p>
          <a:p>
            <a:pPr marL="457200" lvl="1" indent="0">
              <a:buNone/>
            </a:pPr>
            <a:r>
              <a:rPr lang="en-IN" sz="1400" dirty="0"/>
              <a:t>1. Playing Activity: Users' playing activity, focusing on their playing frequency, stake consistency, and periods of high and low activity?</a:t>
            </a:r>
          </a:p>
          <a:p>
            <a:pPr marL="457200" lvl="1" indent="0">
              <a:buNone/>
            </a:pPr>
            <a:r>
              <a:rPr lang="en-IN" sz="1400" dirty="0"/>
              <a:t>2. Nudging Requirement: Users' Nudging requirement to increase activity on the platform and if yes at what dimension </a:t>
            </a:r>
            <a:r>
              <a:rPr lang="en-IN" sz="1400" dirty="0" err="1"/>
              <a:t>sould</a:t>
            </a:r>
            <a:r>
              <a:rPr lang="en-IN" sz="1400" dirty="0"/>
              <a:t> be nudged these users, is it Stake or frequency or longer sessions? </a:t>
            </a:r>
          </a:p>
          <a:p>
            <a:pPr marL="457200" lvl="1" indent="0">
              <a:buNone/>
            </a:pPr>
            <a:r>
              <a:rPr lang="en-IN" sz="1400" dirty="0"/>
              <a:t>3. Recent vs. Earlier Activity: Users' playing frequency, session lengths and stake size in this recent period compare to their activity earlier in the month.</a:t>
            </a:r>
          </a:p>
          <a:p>
            <a:pPr marL="457200" lvl="1" indent="0">
              <a:buNone/>
            </a:pPr>
            <a:endParaRPr lang="en-IN" sz="1400" dirty="0"/>
          </a:p>
          <a:p>
            <a:r>
              <a:rPr lang="en-IN" sz="1400" b="1" dirty="0"/>
              <a:t>Retriever</a:t>
            </a:r>
            <a:r>
              <a:rPr lang="en-IN" sz="1400" dirty="0"/>
              <a:t>: Pull Descriptions from 4000 image-translated </a:t>
            </a:r>
            <a:r>
              <a:rPr lang="en-IN" sz="1400" dirty="0" err="1"/>
              <a:t>behavior</a:t>
            </a:r>
            <a:r>
              <a:rPr lang="en-IN" sz="1400" dirty="0"/>
              <a:t> graphs</a:t>
            </a:r>
          </a:p>
          <a:p>
            <a:pPr marL="0" indent="0">
              <a:buNone/>
            </a:pPr>
            <a:endParaRPr lang="en-IN" sz="1400" dirty="0"/>
          </a:p>
          <a:p>
            <a:r>
              <a:rPr lang="en-IN" sz="1400" b="1" dirty="0"/>
              <a:t>Augment</a:t>
            </a:r>
            <a:r>
              <a:rPr lang="en-IN" sz="1400" dirty="0"/>
              <a:t>: Combine query + retrieved docs.</a:t>
            </a:r>
          </a:p>
          <a:p>
            <a:endParaRPr lang="en-IN" sz="1400" dirty="0"/>
          </a:p>
          <a:p>
            <a:r>
              <a:rPr lang="en-IN" sz="1400" b="1" dirty="0"/>
              <a:t>Generation</a:t>
            </a:r>
            <a:r>
              <a:rPr lang="en-IN" sz="1400" dirty="0"/>
              <a:t>: LLM explains each cluster in plain language.</a:t>
            </a:r>
            <a:endParaRPr lang="en-US" sz="1400" dirty="0"/>
          </a:p>
        </p:txBody>
      </p:sp>
    </p:spTree>
    <p:extLst>
      <p:ext uri="{BB962C8B-B14F-4D97-AF65-F5344CB8AC3E}">
        <p14:creationId xmlns:p14="http://schemas.microsoft.com/office/powerpoint/2010/main" val="414289153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113A3F-56B6-3266-4FBE-0FA15CA06160}"/>
              </a:ext>
            </a:extLst>
          </p:cNvPr>
          <p:cNvSpPr>
            <a:spLocks noGrp="1"/>
          </p:cNvSpPr>
          <p:nvPr>
            <p:ph type="title"/>
          </p:nvPr>
        </p:nvSpPr>
        <p:spPr/>
        <p:txBody>
          <a:bodyPr/>
          <a:lstStyle/>
          <a:p>
            <a:r>
              <a:rPr lang="en-US" dirty="0"/>
              <a:t>Benefits</a:t>
            </a:r>
          </a:p>
        </p:txBody>
      </p:sp>
      <p:sp>
        <p:nvSpPr>
          <p:cNvPr id="3" name="Content Placeholder 2">
            <a:extLst>
              <a:ext uri="{FF2B5EF4-FFF2-40B4-BE49-F238E27FC236}">
                <a16:creationId xmlns:a16="http://schemas.microsoft.com/office/drawing/2014/main" id="{D6801364-6621-ABF6-7DEE-1FD7B903878E}"/>
              </a:ext>
            </a:extLst>
          </p:cNvPr>
          <p:cNvSpPr>
            <a:spLocks noGrp="1"/>
          </p:cNvSpPr>
          <p:nvPr>
            <p:ph idx="1"/>
          </p:nvPr>
        </p:nvSpPr>
        <p:spPr/>
        <p:txBody>
          <a:bodyPr/>
          <a:lstStyle/>
          <a:p>
            <a:r>
              <a:rPr lang="en-IN" dirty="0"/>
              <a:t>Descriptions are detailed in nature and understandable in natural languages </a:t>
            </a:r>
          </a:p>
          <a:p>
            <a:endParaRPr lang="en-IN" dirty="0"/>
          </a:p>
          <a:p>
            <a:r>
              <a:rPr lang="en-IN" dirty="0"/>
              <a:t>Query can be changed according to requirement </a:t>
            </a:r>
          </a:p>
          <a:p>
            <a:pPr lvl="1"/>
            <a:r>
              <a:rPr lang="en-IN" dirty="0"/>
              <a:t>Able to capture local behavioural patterns based on the query</a:t>
            </a:r>
            <a:endParaRPr lang="en-US" dirty="0"/>
          </a:p>
          <a:p>
            <a:pPr lvl="1"/>
            <a:endParaRPr lang="en-IN" dirty="0"/>
          </a:p>
          <a:p>
            <a:endParaRPr lang="en-IN" dirty="0"/>
          </a:p>
          <a:p>
            <a:endParaRPr lang="en-US" dirty="0"/>
          </a:p>
        </p:txBody>
      </p:sp>
    </p:spTree>
    <p:extLst>
      <p:ext uri="{BB962C8B-B14F-4D97-AF65-F5344CB8AC3E}">
        <p14:creationId xmlns:p14="http://schemas.microsoft.com/office/powerpoint/2010/main" val="426356891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F3060C83-F051-4F0E-ABAD-AA0DFC48B2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Freeform: Shape 13">
            <a:extLst>
              <a:ext uri="{FF2B5EF4-FFF2-40B4-BE49-F238E27FC236}">
                <a16:creationId xmlns:a16="http://schemas.microsoft.com/office/drawing/2014/main" id="{83C98ABE-055B-441F-B07E-44F97F083C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376156" y="-253670"/>
            <a:ext cx="1827638" cy="1376989"/>
          </a:xfrm>
          <a:custGeom>
            <a:avLst/>
            <a:gdLst>
              <a:gd name="connsiteX0" fmla="*/ 0 w 1827638"/>
              <a:gd name="connsiteY0" fmla="*/ 987379 h 1376989"/>
              <a:gd name="connsiteX1" fmla="*/ 987379 w 1827638"/>
              <a:gd name="connsiteY1" fmla="*/ 0 h 1376989"/>
              <a:gd name="connsiteX2" fmla="*/ 1827638 w 1827638"/>
              <a:gd name="connsiteY2" fmla="*/ 840260 h 1376989"/>
              <a:gd name="connsiteX3" fmla="*/ 1827638 w 1827638"/>
              <a:gd name="connsiteY3" fmla="*/ 1376989 h 1376989"/>
              <a:gd name="connsiteX4" fmla="*/ 0 w 1827638"/>
              <a:gd name="connsiteY4" fmla="*/ 1376989 h 13769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7638" h="1376989">
                <a:moveTo>
                  <a:pt x="0" y="987379"/>
                </a:moveTo>
                <a:lnTo>
                  <a:pt x="987379" y="0"/>
                </a:lnTo>
                <a:lnTo>
                  <a:pt x="1827638" y="840260"/>
                </a:lnTo>
                <a:lnTo>
                  <a:pt x="1827638" y="1376989"/>
                </a:lnTo>
                <a:lnTo>
                  <a:pt x="0" y="1376989"/>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Rectangle 15">
            <a:extLst>
              <a:ext uri="{FF2B5EF4-FFF2-40B4-BE49-F238E27FC236}">
                <a16:creationId xmlns:a16="http://schemas.microsoft.com/office/drawing/2014/main" id="{29FDB030-9B49-4CED-8CCD-4D99382388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891641" y="422146"/>
            <a:ext cx="645368" cy="64536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3783CA14-24A1-485C-8B30-D6A5D87987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10043482" y="655140"/>
            <a:ext cx="687472" cy="687472"/>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Freeform: Shape 19">
            <a:extLst>
              <a:ext uri="{FF2B5EF4-FFF2-40B4-BE49-F238E27FC236}">
                <a16:creationId xmlns:a16="http://schemas.microsoft.com/office/drawing/2014/main" id="{9A97C86A-04D6-40F7-AE84-31AB43E6A8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9356643" y="0"/>
            <a:ext cx="2835357" cy="1480837"/>
          </a:xfrm>
          <a:custGeom>
            <a:avLst/>
            <a:gdLst>
              <a:gd name="connsiteX0" fmla="*/ 2835357 w 2835357"/>
              <a:gd name="connsiteY0" fmla="*/ 1480837 h 1480837"/>
              <a:gd name="connsiteX1" fmla="*/ 0 w 2835357"/>
              <a:gd name="connsiteY1" fmla="*/ 1480837 h 1480837"/>
              <a:gd name="connsiteX2" fmla="*/ 1552727 w 2835357"/>
              <a:gd name="connsiteY2" fmla="*/ 0 h 1480837"/>
              <a:gd name="connsiteX3" fmla="*/ 2835357 w 2835357"/>
              <a:gd name="connsiteY3" fmla="*/ 1223245 h 1480837"/>
            </a:gdLst>
            <a:ahLst/>
            <a:cxnLst>
              <a:cxn ang="0">
                <a:pos x="connsiteX0" y="connsiteY0"/>
              </a:cxn>
              <a:cxn ang="0">
                <a:pos x="connsiteX1" y="connsiteY1"/>
              </a:cxn>
              <a:cxn ang="0">
                <a:pos x="connsiteX2" y="connsiteY2"/>
              </a:cxn>
              <a:cxn ang="0">
                <a:pos x="connsiteX3" y="connsiteY3"/>
              </a:cxn>
            </a:cxnLst>
            <a:rect l="l" t="t" r="r" b="b"/>
            <a:pathLst>
              <a:path w="2835357" h="1480837">
                <a:moveTo>
                  <a:pt x="2835357" y="1480837"/>
                </a:moveTo>
                <a:lnTo>
                  <a:pt x="0" y="1480837"/>
                </a:lnTo>
                <a:lnTo>
                  <a:pt x="1552727" y="0"/>
                </a:lnTo>
                <a:lnTo>
                  <a:pt x="2835357" y="1223245"/>
                </a:ln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2" name="Isosceles Triangle 21">
            <a:extLst>
              <a:ext uri="{FF2B5EF4-FFF2-40B4-BE49-F238E27FC236}">
                <a16:creationId xmlns:a16="http://schemas.microsoft.com/office/drawing/2014/main" id="{FF9F2414-84E8-453E-B1F3-389FDE8192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976344" y="6115501"/>
            <a:ext cx="1494513" cy="742499"/>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Isosceles Triangle 23">
            <a:extLst>
              <a:ext uri="{FF2B5EF4-FFF2-40B4-BE49-F238E27FC236}">
                <a16:creationId xmlns:a16="http://schemas.microsoft.com/office/drawing/2014/main" id="{3ECA69A1-7536-43AC-85EF-C7106179F5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604080" y="6453143"/>
            <a:ext cx="814903" cy="404857"/>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1">
            <a:extLst>
              <a:ext uri="{FF2B5EF4-FFF2-40B4-BE49-F238E27FC236}">
                <a16:creationId xmlns:a16="http://schemas.microsoft.com/office/drawing/2014/main" id="{32BBAF62-7420-7732-6605-4D94513F5D56}"/>
              </a:ext>
            </a:extLst>
          </p:cNvPr>
          <p:cNvSpPr>
            <a:spLocks noChangeArrowheads="1"/>
          </p:cNvSpPr>
          <p:nvPr/>
        </p:nvSpPr>
        <p:spPr bwMode="auto">
          <a:xfrm>
            <a:off x="3519488" y="1731060"/>
            <a:ext cx="184731"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spcBef>
                <a:spcPct val="0"/>
              </a:spcBef>
              <a:spcAft>
                <a:spcPts val="600"/>
              </a:spcAft>
              <a:buClrTx/>
              <a:buSzTx/>
              <a:buFontTx/>
              <a:buNone/>
              <a:tabLst/>
            </a:pPr>
            <a:br>
              <a:rPr kumimoji="0" lang="en-US" altLang="en-US" b="0" i="0" u="none" strike="noStrike" cap="none" normalizeH="0" baseline="0">
                <a:ln>
                  <a:noFill/>
                </a:ln>
                <a:solidFill>
                  <a:schemeClr val="tx1"/>
                </a:solidFill>
                <a:effectLst/>
                <a:latin typeface="Arial" panose="020B0604020202020204" pitchFamily="34" charset="0"/>
              </a:rPr>
            </a:br>
            <a:endParaRPr kumimoji="0" lang="en-US" altLang="en-US" b="0" i="0" u="none" strike="noStrike" cap="none" normalizeH="0" baseline="0">
              <a:ln>
                <a:noFill/>
              </a:ln>
              <a:solidFill>
                <a:schemeClr val="tx1"/>
              </a:solidFill>
              <a:effectLst/>
              <a:latin typeface="Arial" panose="020B0604020202020204" pitchFamily="34" charset="0"/>
            </a:endParaRPr>
          </a:p>
        </p:txBody>
      </p:sp>
      <p:graphicFrame>
        <p:nvGraphicFramePr>
          <p:cNvPr id="6" name="Table 5">
            <a:extLst>
              <a:ext uri="{FF2B5EF4-FFF2-40B4-BE49-F238E27FC236}">
                <a16:creationId xmlns:a16="http://schemas.microsoft.com/office/drawing/2014/main" id="{670F9B54-35BE-BC11-BA9C-7CFEB3346AA7}"/>
              </a:ext>
            </a:extLst>
          </p:cNvPr>
          <p:cNvGraphicFramePr>
            <a:graphicFrameLocks noGrp="1"/>
          </p:cNvGraphicFramePr>
          <p:nvPr>
            <p:extLst>
              <p:ext uri="{D42A27DB-BD31-4B8C-83A1-F6EECF244321}">
                <p14:modId xmlns:p14="http://schemas.microsoft.com/office/powerpoint/2010/main" val="1910450790"/>
              </p:ext>
            </p:extLst>
          </p:nvPr>
        </p:nvGraphicFramePr>
        <p:xfrm>
          <a:off x="643467" y="714778"/>
          <a:ext cx="10905070" cy="5520756"/>
        </p:xfrm>
        <a:graphic>
          <a:graphicData uri="http://schemas.openxmlformats.org/drawingml/2006/table">
            <a:tbl>
              <a:tblPr firstRow="1" bandRow="1"/>
              <a:tblGrid>
                <a:gridCol w="1254383">
                  <a:extLst>
                    <a:ext uri="{9D8B030D-6E8A-4147-A177-3AD203B41FA5}">
                      <a16:colId xmlns:a16="http://schemas.microsoft.com/office/drawing/2014/main" val="1837639577"/>
                    </a:ext>
                  </a:extLst>
                </a:gridCol>
                <a:gridCol w="2527617">
                  <a:extLst>
                    <a:ext uri="{9D8B030D-6E8A-4147-A177-3AD203B41FA5}">
                      <a16:colId xmlns:a16="http://schemas.microsoft.com/office/drawing/2014/main" val="24282163"/>
                    </a:ext>
                  </a:extLst>
                </a:gridCol>
                <a:gridCol w="2263313">
                  <a:extLst>
                    <a:ext uri="{9D8B030D-6E8A-4147-A177-3AD203B41FA5}">
                      <a16:colId xmlns:a16="http://schemas.microsoft.com/office/drawing/2014/main" val="3796742244"/>
                    </a:ext>
                  </a:extLst>
                </a:gridCol>
                <a:gridCol w="2559384">
                  <a:extLst>
                    <a:ext uri="{9D8B030D-6E8A-4147-A177-3AD203B41FA5}">
                      <a16:colId xmlns:a16="http://schemas.microsoft.com/office/drawing/2014/main" val="31176048"/>
                    </a:ext>
                  </a:extLst>
                </a:gridCol>
                <a:gridCol w="1912602">
                  <a:extLst>
                    <a:ext uri="{9D8B030D-6E8A-4147-A177-3AD203B41FA5}">
                      <a16:colId xmlns:a16="http://schemas.microsoft.com/office/drawing/2014/main" val="3915521441"/>
                    </a:ext>
                  </a:extLst>
                </a:gridCol>
                <a:gridCol w="387771">
                  <a:extLst>
                    <a:ext uri="{9D8B030D-6E8A-4147-A177-3AD203B41FA5}">
                      <a16:colId xmlns:a16="http://schemas.microsoft.com/office/drawing/2014/main" val="980135903"/>
                    </a:ext>
                  </a:extLst>
                </a:gridCol>
              </a:tblGrid>
              <a:tr h="312596">
                <a:tc>
                  <a:txBody>
                    <a:bodyPr/>
                    <a:lstStyle/>
                    <a:p>
                      <a:pPr rtl="0" fontAlgn="t">
                        <a:buNone/>
                      </a:pPr>
                      <a:r>
                        <a:rPr lang="en-IN" sz="800" b="0" i="0" u="none" strike="noStrike">
                          <a:solidFill>
                            <a:srgbClr val="000000"/>
                          </a:solidFill>
                          <a:effectLst/>
                          <a:latin typeface="Arial" panose="020B0604020202020204" pitchFamily="34" charset="0"/>
                        </a:rPr>
                        <a:t>Segment</a:t>
                      </a:r>
                      <a:endParaRPr lang="en-IN" sz="1400">
                        <a:effectLst/>
                      </a:endParaRPr>
                    </a:p>
                  </a:txBody>
                  <a:tcPr marL="19673" marR="19673" marT="19673" marB="19673">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rtl="0" fontAlgn="t">
                        <a:buNone/>
                      </a:pPr>
                      <a:r>
                        <a:rPr lang="en-IN" sz="800" b="0" i="0" u="none" strike="noStrike">
                          <a:solidFill>
                            <a:srgbClr val="000000"/>
                          </a:solidFill>
                          <a:effectLst/>
                          <a:latin typeface="Arial" panose="020B0604020202020204" pitchFamily="34" charset="0"/>
                        </a:rPr>
                        <a:t>Description</a:t>
                      </a:r>
                      <a:endParaRPr lang="en-IN" sz="1400">
                        <a:effectLst/>
                      </a:endParaRPr>
                    </a:p>
                  </a:txBody>
                  <a:tcPr marL="19673" marR="19673" marT="19673" marB="19673">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rtl="0" fontAlgn="t">
                        <a:buNone/>
                      </a:pPr>
                      <a:r>
                        <a:rPr lang="en-IN" sz="800" b="0" i="0" u="none" strike="noStrike">
                          <a:solidFill>
                            <a:srgbClr val="000000"/>
                          </a:solidFill>
                          <a:effectLst/>
                          <a:latin typeface="Arial" panose="020B0604020202020204" pitchFamily="34" charset="0"/>
                        </a:rPr>
                        <a:t>Playing Activity</a:t>
                      </a:r>
                      <a:endParaRPr lang="en-IN" sz="1400">
                        <a:effectLst/>
                      </a:endParaRPr>
                    </a:p>
                  </a:txBody>
                  <a:tcPr marL="19673" marR="19673" marT="19673" marB="19673">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rtl="0" fontAlgn="t">
                        <a:buNone/>
                      </a:pPr>
                      <a:r>
                        <a:rPr lang="en-IN" sz="800" b="0" i="0" u="none" strike="noStrike">
                          <a:solidFill>
                            <a:srgbClr val="000000"/>
                          </a:solidFill>
                          <a:effectLst/>
                          <a:latin typeface="Arial" panose="020B0604020202020204" pitchFamily="34" charset="0"/>
                        </a:rPr>
                        <a:t>Nudging Requirement</a:t>
                      </a:r>
                      <a:endParaRPr lang="en-IN" sz="1400">
                        <a:effectLst/>
                      </a:endParaRPr>
                    </a:p>
                  </a:txBody>
                  <a:tcPr marL="19673" marR="19673" marT="19673" marB="19673">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rtl="0" fontAlgn="t">
                        <a:buNone/>
                      </a:pPr>
                      <a:r>
                        <a:rPr lang="en-IN" sz="800" b="0" i="0" u="none" strike="noStrike">
                          <a:solidFill>
                            <a:srgbClr val="000000"/>
                          </a:solidFill>
                          <a:effectLst/>
                          <a:latin typeface="Arial" panose="020B0604020202020204" pitchFamily="34" charset="0"/>
                        </a:rPr>
                        <a:t>Recent vs. Earlier Activity</a:t>
                      </a:r>
                      <a:endParaRPr lang="en-IN" sz="1400">
                        <a:effectLst/>
                      </a:endParaRPr>
                    </a:p>
                  </a:txBody>
                  <a:tcPr marL="19673" marR="19673" marT="19673" marB="19673">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rtl="0" fontAlgn="t">
                        <a:buNone/>
                      </a:pPr>
                      <a:r>
                        <a:rPr lang="en-IN" sz="800" b="0" i="0" u="none" strike="noStrike">
                          <a:solidFill>
                            <a:srgbClr val="000000"/>
                          </a:solidFill>
                          <a:effectLst/>
                          <a:latin typeface="Arial" panose="020B0604020202020204" pitchFamily="34" charset="0"/>
                        </a:rPr>
                        <a:t>Total Users</a:t>
                      </a:r>
                      <a:endParaRPr lang="en-IN" sz="1400">
                        <a:effectLst/>
                      </a:endParaRPr>
                    </a:p>
                  </a:txBody>
                  <a:tcPr marL="19673" marR="19673" marT="19673" marB="19673">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488690480"/>
                  </a:ext>
                </a:extLst>
              </a:tr>
              <a:tr h="800542">
                <a:tc>
                  <a:txBody>
                    <a:bodyPr/>
                    <a:lstStyle/>
                    <a:p>
                      <a:pPr rtl="0" fontAlgn="t">
                        <a:buNone/>
                      </a:pPr>
                      <a:r>
                        <a:rPr lang="en-IN" sz="800" b="1" i="0" u="none" strike="noStrike">
                          <a:solidFill>
                            <a:srgbClr val="000000"/>
                          </a:solidFill>
                          <a:effectLst/>
                          <a:latin typeface="Arial" panose="020B0604020202020204" pitchFamily="34" charset="0"/>
                        </a:rPr>
                        <a:t>High-Value, Sustained Engagement (The VIPs)</a:t>
                      </a:r>
                      <a:endParaRPr lang="en-IN" sz="1400">
                        <a:effectLst/>
                      </a:endParaRPr>
                    </a:p>
                  </a:txBody>
                  <a:tcPr marL="19673" marR="19673" marT="19673" marB="19673">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rtl="0" fontAlgn="t">
                        <a:buNone/>
                      </a:pPr>
                      <a:r>
                        <a:rPr lang="en-IN" sz="800" b="0" i="0" u="none" strike="noStrike">
                          <a:solidFill>
                            <a:srgbClr val="000000"/>
                          </a:solidFill>
                          <a:effectLst/>
                          <a:latin typeface="Arial" panose="020B0604020202020204" pitchFamily="34" charset="0"/>
                        </a:rPr>
                        <a:t>Your most valuable players, demonstrating consistently high frequency and moderate to high stakes. Highly engaged, loyal, and show stable or growing activity, forming the core base of strong performers.</a:t>
                      </a:r>
                      <a:endParaRPr lang="en-IN" sz="1400">
                        <a:effectLst/>
                      </a:endParaRPr>
                    </a:p>
                  </a:txBody>
                  <a:tcPr marL="19673" marR="19673" marT="19673" marB="19673">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rtl="0" fontAlgn="t">
                        <a:buNone/>
                      </a:pPr>
                      <a:r>
                        <a:rPr lang="en-IN" sz="800" b="0" i="0" u="none" strike="noStrike">
                          <a:solidFill>
                            <a:srgbClr val="000000"/>
                          </a:solidFill>
                          <a:effectLst/>
                          <a:latin typeface="Arial" panose="020B0604020202020204" pitchFamily="34" charset="0"/>
                        </a:rPr>
                        <a:t>Highly consistent and frequent (often daily or near-daily), with moderate to high stakes. Some show an upward trend in frequency and/or stake size, while others maintain a consistently high level. Occasional higher spikes in stakes are common.</a:t>
                      </a:r>
                      <a:endParaRPr lang="en-IN" sz="1400">
                        <a:effectLst/>
                      </a:endParaRPr>
                    </a:p>
                  </a:txBody>
                  <a:tcPr marL="19673" marR="19673" marT="19673" marB="19673">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rtl="0" fontAlgn="t">
                        <a:buNone/>
                      </a:pPr>
                      <a:r>
                        <a:rPr lang="en-IN" sz="800" b="0" i="0" u="none" strike="noStrike">
                          <a:solidFill>
                            <a:srgbClr val="000000"/>
                          </a:solidFill>
                          <a:effectLst/>
                          <a:latin typeface="Arial" panose="020B0604020202020204" pitchFamily="34" charset="0"/>
                        </a:rPr>
                        <a:t>Low. Focus on retention, loyalty programs, VIP benefits, exclusive features/events, and personalized recognition to maintain interest and engagement. Avoid basic frequency nudges.</a:t>
                      </a:r>
                      <a:endParaRPr lang="en-IN" sz="1400">
                        <a:effectLst/>
                      </a:endParaRPr>
                    </a:p>
                  </a:txBody>
                  <a:tcPr marL="19673" marR="19673" marT="19673" marB="19673">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rtl="0" fontAlgn="t">
                        <a:buNone/>
                      </a:pPr>
                      <a:r>
                        <a:rPr lang="en-IN" sz="800" b="0" i="0" u="none" strike="noStrike">
                          <a:solidFill>
                            <a:srgbClr val="000000"/>
                          </a:solidFill>
                          <a:effectLst/>
                          <a:latin typeface="Arial" panose="020B0604020202020204" pitchFamily="34" charset="0"/>
                        </a:rPr>
                        <a:t>Consistently high activity (frequency, stake size) throughout the entire period, with stable engagement or a clear growth trend.</a:t>
                      </a:r>
                      <a:endParaRPr lang="en-IN" sz="1400">
                        <a:effectLst/>
                      </a:endParaRPr>
                    </a:p>
                  </a:txBody>
                  <a:tcPr marL="19673" marR="19673" marT="19673" marB="19673">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rtl="0" fontAlgn="t">
                        <a:buNone/>
                      </a:pPr>
                      <a:r>
                        <a:rPr lang="en-IN" sz="800" b="0" i="0" u="none" strike="noStrike">
                          <a:solidFill>
                            <a:srgbClr val="000000"/>
                          </a:solidFill>
                          <a:effectLst/>
                          <a:latin typeface="Arial" panose="020B0604020202020204" pitchFamily="34" charset="0"/>
                        </a:rPr>
                        <a:t>1521</a:t>
                      </a:r>
                      <a:endParaRPr lang="en-IN" sz="1400">
                        <a:effectLst/>
                      </a:endParaRPr>
                    </a:p>
                  </a:txBody>
                  <a:tcPr marL="19673" marR="19673" marT="19673" marB="19673">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641315050"/>
                  </a:ext>
                </a:extLst>
              </a:tr>
              <a:tr h="678556">
                <a:tc>
                  <a:txBody>
                    <a:bodyPr/>
                    <a:lstStyle/>
                    <a:p>
                      <a:pPr rtl="0" fontAlgn="t">
                        <a:buNone/>
                      </a:pPr>
                      <a:r>
                        <a:rPr lang="en-IN" sz="800" b="1" i="0" u="none" strike="noStrike">
                          <a:solidFill>
                            <a:srgbClr val="000000"/>
                          </a:solidFill>
                          <a:effectLst/>
                          <a:latin typeface="Arial" panose="020B0604020202020204" pitchFamily="34" charset="0"/>
                        </a:rPr>
                        <a:t>Growing Engagement (The Up-and-Comers)</a:t>
                      </a:r>
                      <a:endParaRPr lang="en-IN" sz="1400">
                        <a:effectLst/>
                      </a:endParaRPr>
                    </a:p>
                  </a:txBody>
                  <a:tcPr marL="19673" marR="19673" marT="19673" marB="19673">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rtl="0" fontAlgn="t">
                        <a:buNone/>
                      </a:pPr>
                      <a:r>
                        <a:rPr lang="en-IN" sz="800" b="0" i="0" u="none" strike="noStrike">
                          <a:solidFill>
                            <a:srgbClr val="000000"/>
                          </a:solidFill>
                          <a:effectLst/>
                          <a:latin typeface="Arial" panose="020B0604020202020204" pitchFamily="34" charset="0"/>
                        </a:rPr>
                        <a:t>Users who show a clear and positive upward trend in their playing frequency and/or stake sizes. They were less active or played with lower stakes earlier but are now becoming more engaged and valuable.</a:t>
                      </a:r>
                      <a:endParaRPr lang="en-IN" sz="1400">
                        <a:effectLst/>
                      </a:endParaRPr>
                    </a:p>
                  </a:txBody>
                  <a:tcPr marL="19673" marR="19673" marT="19673" marB="19673">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rtl="0" fontAlgn="t">
                        <a:buNone/>
                      </a:pPr>
                      <a:r>
                        <a:rPr lang="en-IN" sz="800" b="0" i="0" u="none" strike="noStrike">
                          <a:solidFill>
                            <a:srgbClr val="000000"/>
                          </a:solidFill>
                          <a:effectLst/>
                          <a:latin typeface="Arial" panose="020B0604020202020204" pitchFamily="34" charset="0"/>
                        </a:rPr>
                        <a:t>Noticeably increased frequency, session length, and/or stake size in the recent period compared to earlier activity.</a:t>
                      </a:r>
                      <a:endParaRPr lang="en-IN" sz="1400">
                        <a:effectLst/>
                      </a:endParaRPr>
                    </a:p>
                  </a:txBody>
                  <a:tcPr marL="19673" marR="19673" marT="19673" marB="19673">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rtl="0" fontAlgn="t">
                        <a:buNone/>
                      </a:pPr>
                      <a:r>
                        <a:rPr lang="en-IN" sz="800" b="0" i="0" u="none" strike="noStrike">
                          <a:solidFill>
                            <a:srgbClr val="000000"/>
                          </a:solidFill>
                          <a:effectLst/>
                          <a:latin typeface="Arial" panose="020B0604020202020204" pitchFamily="34" charset="0"/>
                        </a:rPr>
                        <a:t>Moderate. Nurture this positive trend. Reward increasing activity, encourage sustained play, and offer challenges or milestones that align with their growing engagement. Focus on sustaining frequency and potentially longer sessions.</a:t>
                      </a:r>
                      <a:endParaRPr lang="en-IN" sz="1400">
                        <a:effectLst/>
                      </a:endParaRPr>
                    </a:p>
                  </a:txBody>
                  <a:tcPr marL="19673" marR="19673" marT="19673" marB="19673">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rtl="0" fontAlgn="t">
                        <a:buNone/>
                      </a:pPr>
                      <a:r>
                        <a:rPr lang="en-IN" sz="800" b="0" i="0" u="none" strike="noStrike">
                          <a:solidFill>
                            <a:srgbClr val="000000"/>
                          </a:solidFill>
                          <a:effectLst/>
                          <a:latin typeface="Arial" panose="020B0604020202020204" pitchFamily="34" charset="0"/>
                        </a:rPr>
                        <a:t>Significant increase in playing frequency, session length, and/or stake sizes in the recent period compared to earlier.</a:t>
                      </a:r>
                      <a:endParaRPr lang="en-IN" sz="1400">
                        <a:effectLst/>
                      </a:endParaRPr>
                    </a:p>
                  </a:txBody>
                  <a:tcPr marL="19673" marR="19673" marT="19673" marB="19673">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rtl="0" fontAlgn="t">
                        <a:buNone/>
                      </a:pPr>
                      <a:r>
                        <a:rPr lang="en-IN" sz="800" b="0" i="0" u="none" strike="noStrike">
                          <a:solidFill>
                            <a:srgbClr val="000000"/>
                          </a:solidFill>
                          <a:effectLst/>
                          <a:latin typeface="Arial" panose="020B0604020202020204" pitchFamily="34" charset="0"/>
                        </a:rPr>
                        <a:t>178</a:t>
                      </a:r>
                      <a:endParaRPr lang="en-IN" sz="1400">
                        <a:effectLst/>
                      </a:endParaRPr>
                    </a:p>
                  </a:txBody>
                  <a:tcPr marL="19673" marR="19673" marT="19673" marB="19673">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082993006"/>
                  </a:ext>
                </a:extLst>
              </a:tr>
              <a:tr h="678556">
                <a:tc>
                  <a:txBody>
                    <a:bodyPr/>
                    <a:lstStyle/>
                    <a:p>
                      <a:pPr rtl="0" fontAlgn="t">
                        <a:buNone/>
                      </a:pPr>
                      <a:r>
                        <a:rPr lang="en-IN" sz="800" b="1" i="0" u="none" strike="noStrike">
                          <a:solidFill>
                            <a:srgbClr val="000000"/>
                          </a:solidFill>
                          <a:effectLst/>
                          <a:latin typeface="Arial" panose="020B0604020202020204" pitchFamily="34" charset="0"/>
                        </a:rPr>
                        <a:t>Strategic Moderate Players (Optimizing Engagement)</a:t>
                      </a:r>
                      <a:endParaRPr lang="en-IN" sz="1400">
                        <a:effectLst/>
                      </a:endParaRPr>
                    </a:p>
                  </a:txBody>
                  <a:tcPr marL="19673" marR="19673" marT="19673" marB="19673">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rtl="0" fontAlgn="t">
                        <a:buNone/>
                      </a:pPr>
                      <a:r>
                        <a:rPr lang="en-IN" sz="800" b="0" i="0" u="none" strike="noStrike">
                          <a:solidFill>
                            <a:srgbClr val="000000"/>
                          </a:solidFill>
                          <a:effectLst/>
                          <a:latin typeface="Arial" panose="020B0604020202020204" pitchFamily="34" charset="0"/>
                        </a:rPr>
                        <a:t>Users with consistent moderate activity who are reliable but have room for growth. This includes those with moderate frequency and moderate stakes, or those with very high frequency but consistently low stakes. The goal is to gently uplift their overall value.</a:t>
                      </a:r>
                      <a:endParaRPr lang="en-IN" sz="1400">
                        <a:effectLst/>
                      </a:endParaRPr>
                    </a:p>
                  </a:txBody>
                  <a:tcPr marL="19673" marR="19673" marT="19673" marB="19673">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rtl="0" fontAlgn="t">
                        <a:buNone/>
                      </a:pPr>
                      <a:r>
                        <a:rPr lang="en-IN" sz="800" b="0" i="0" u="none" strike="noStrike">
                          <a:solidFill>
                            <a:srgbClr val="000000"/>
                          </a:solidFill>
                          <a:effectLst/>
                          <a:latin typeface="Arial" panose="020B0604020202020204" pitchFamily="34" charset="0"/>
                        </a:rPr>
                        <a:t>Consistent moderate frequency with moderate-to-high stakes, or very high frequency with consistently low stakes. Activity is stable at a moderate level.</a:t>
                      </a:r>
                      <a:endParaRPr lang="en-IN" sz="1400">
                        <a:effectLst/>
                      </a:endParaRPr>
                    </a:p>
                  </a:txBody>
                  <a:tcPr marL="19673" marR="19673" marT="19673" marB="19673">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rtl="0" fontAlgn="t">
                        <a:buNone/>
                      </a:pPr>
                      <a:r>
                        <a:rPr lang="en-IN" sz="800" b="0" i="0" u="none" strike="noStrike">
                          <a:solidFill>
                            <a:srgbClr val="000000"/>
                          </a:solidFill>
                          <a:effectLst/>
                          <a:latin typeface="Arial" panose="020B0604020202020204" pitchFamily="34" charset="0"/>
                        </a:rPr>
                        <a:t>Medium. Aim for slight uplift in frequency or stake through loyalty bonuses, personalized offers, or new game features. For low-stake players, encourage gradual stake increases with tiered rewards.</a:t>
                      </a:r>
                      <a:endParaRPr lang="en-IN" sz="1400">
                        <a:effectLst/>
                      </a:endParaRPr>
                    </a:p>
                  </a:txBody>
                  <a:tcPr marL="19673" marR="19673" marT="19673" marB="19673">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rtl="0" fontAlgn="t">
                        <a:buNone/>
                      </a:pPr>
                      <a:r>
                        <a:rPr lang="en-IN" sz="800" b="0" i="0" u="none" strike="noStrike">
                          <a:solidFill>
                            <a:srgbClr val="000000"/>
                          </a:solidFill>
                          <a:effectLst/>
                          <a:latin typeface="Arial" panose="020B0604020202020204" pitchFamily="34" charset="0"/>
                        </a:rPr>
                        <a:t>Stable, consistent patterns throughout the period, with no significant decline or strong growth.</a:t>
                      </a:r>
                      <a:endParaRPr lang="en-IN" sz="1400">
                        <a:effectLst/>
                      </a:endParaRPr>
                    </a:p>
                  </a:txBody>
                  <a:tcPr marL="19673" marR="19673" marT="19673" marB="19673">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rtl="0" fontAlgn="t">
                        <a:buNone/>
                      </a:pPr>
                      <a:r>
                        <a:rPr lang="en-IN" sz="800" b="0" i="0" u="none" strike="noStrike">
                          <a:solidFill>
                            <a:srgbClr val="000000"/>
                          </a:solidFill>
                          <a:effectLst/>
                          <a:latin typeface="Arial" panose="020B0604020202020204" pitchFamily="34" charset="0"/>
                        </a:rPr>
                        <a:t>427</a:t>
                      </a:r>
                      <a:endParaRPr lang="en-IN" sz="1400">
                        <a:effectLst/>
                      </a:endParaRPr>
                    </a:p>
                  </a:txBody>
                  <a:tcPr marL="19673" marR="19673" marT="19673" marB="19673">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066389884"/>
                  </a:ext>
                </a:extLst>
              </a:tr>
              <a:tr h="678556">
                <a:tc>
                  <a:txBody>
                    <a:bodyPr/>
                    <a:lstStyle/>
                    <a:p>
                      <a:pPr rtl="0" fontAlgn="t">
                        <a:buNone/>
                      </a:pPr>
                      <a:r>
                        <a:rPr lang="en-IN" sz="800" b="1" i="0" u="none" strike="noStrike">
                          <a:solidFill>
                            <a:srgbClr val="000000"/>
                          </a:solidFill>
                          <a:effectLst/>
                          <a:latin typeface="Arial" panose="020B0604020202020204" pitchFamily="34" charset="0"/>
                        </a:rPr>
                        <a:t>Sporadic High-Rollers (Event-Driven High-Value)</a:t>
                      </a:r>
                      <a:endParaRPr lang="en-IN" sz="1400">
                        <a:effectLst/>
                      </a:endParaRPr>
                    </a:p>
                  </a:txBody>
                  <a:tcPr marL="19673" marR="19673" marT="19673" marB="19673">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rtl="0" fontAlgn="t">
                        <a:buNone/>
                      </a:pPr>
                      <a:r>
                        <a:rPr lang="en-IN" sz="800" b="0" i="0" u="none" strike="noStrike">
                          <a:solidFill>
                            <a:srgbClr val="000000"/>
                          </a:solidFill>
                          <a:effectLst/>
                          <a:latin typeface="Arial" panose="020B0604020202020204" pitchFamily="34" charset="0"/>
                        </a:rPr>
                        <a:t>These users play infrequently but when they do, they engage in very high-stake activities. Their engagement is episodic, characterized by clear, distinct spikes rather than sustained play.</a:t>
                      </a:r>
                      <a:endParaRPr lang="en-IN" sz="1400">
                        <a:effectLst/>
                      </a:endParaRPr>
                    </a:p>
                  </a:txBody>
                  <a:tcPr marL="19673" marR="19673" marT="19673" marB="19673">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rtl="0" fontAlgn="t">
                        <a:buNone/>
                      </a:pPr>
                      <a:r>
                        <a:rPr lang="en-IN" sz="800" b="0" i="0" u="none" strike="noStrike">
                          <a:solidFill>
                            <a:srgbClr val="000000"/>
                          </a:solidFill>
                          <a:effectLst/>
                          <a:latin typeface="Arial" panose="020B0604020202020204" pitchFamily="34" charset="0"/>
                        </a:rPr>
                        <a:t>Highly intermittent activity, but with very high stakes during active sessions. Significant gaps between play.</a:t>
                      </a:r>
                      <a:endParaRPr lang="en-IN" sz="1400">
                        <a:effectLst/>
                      </a:endParaRPr>
                    </a:p>
                  </a:txBody>
                  <a:tcPr marL="19673" marR="19673" marT="19673" marB="19673">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rtl="0" fontAlgn="t">
                        <a:buNone/>
                      </a:pPr>
                      <a:r>
                        <a:rPr lang="en-IN" sz="800" b="0" i="0" u="none" strike="noStrike">
                          <a:solidFill>
                            <a:srgbClr val="000000"/>
                          </a:solidFill>
                          <a:effectLst/>
                          <a:latin typeface="Arial" panose="020B0604020202020204" pitchFamily="34" charset="0"/>
                        </a:rPr>
                        <a:t>Low to Moderate. Focus on special events or high-value offers that align with their episodic, high-stake playing style. Nudging should be around </a:t>
                      </a:r>
                      <a:r>
                        <a:rPr lang="en-IN" sz="800" b="0" i="1" u="none" strike="noStrike">
                          <a:solidFill>
                            <a:srgbClr val="000000"/>
                          </a:solidFill>
                          <a:effectLst/>
                          <a:latin typeface="Arial" panose="020B0604020202020204" pitchFamily="34" charset="0"/>
                        </a:rPr>
                        <a:t>stake</a:t>
                      </a:r>
                      <a:r>
                        <a:rPr lang="en-IN" sz="800" b="0" i="0" u="none" strike="noStrike">
                          <a:solidFill>
                            <a:srgbClr val="000000"/>
                          </a:solidFill>
                          <a:effectLst/>
                          <a:latin typeface="Arial" panose="020B0604020202020204" pitchFamily="34" charset="0"/>
                        </a:rPr>
                        <a:t> or </a:t>
                      </a:r>
                      <a:r>
                        <a:rPr lang="en-IN" sz="800" b="0" i="1" u="none" strike="noStrike">
                          <a:solidFill>
                            <a:srgbClr val="000000"/>
                          </a:solidFill>
                          <a:effectLst/>
                          <a:latin typeface="Arial" panose="020B0604020202020204" pitchFamily="34" charset="0"/>
                        </a:rPr>
                        <a:t>event-based frequency</a:t>
                      </a:r>
                      <a:r>
                        <a:rPr lang="en-IN" sz="800" b="0" i="0" u="none" strike="noStrike">
                          <a:solidFill>
                            <a:srgbClr val="000000"/>
                          </a:solidFill>
                          <a:effectLst/>
                          <a:latin typeface="Arial" panose="020B0604020202020204" pitchFamily="34" charset="0"/>
                        </a:rPr>
                        <a:t>, highlighting new high-stake opportunities or offering incentives to return after inactivity.</a:t>
                      </a:r>
                      <a:endParaRPr lang="en-IN" sz="1400">
                        <a:effectLst/>
                      </a:endParaRPr>
                    </a:p>
                  </a:txBody>
                  <a:tcPr marL="19673" marR="19673" marT="19673" marB="19673">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rtl="0" fontAlgn="t">
                        <a:buNone/>
                      </a:pPr>
                      <a:r>
                        <a:rPr lang="en-IN" sz="800" b="0" i="0" u="none" strike="noStrike">
                          <a:solidFill>
                            <a:srgbClr val="000000"/>
                          </a:solidFill>
                          <a:effectLst/>
                          <a:latin typeface="Arial" panose="020B0604020202020204" pitchFamily="34" charset="0"/>
                        </a:rPr>
                        <a:t>Characterized by sporadic bursts of high-stakes play rather than a continuous trend. Might show a recent high-stake session after a long period of inactivity.</a:t>
                      </a:r>
                      <a:endParaRPr lang="en-IN" sz="1400">
                        <a:effectLst/>
                      </a:endParaRPr>
                    </a:p>
                  </a:txBody>
                  <a:tcPr marL="19673" marR="19673" marT="19673" marB="19673">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rtl="0" fontAlgn="t">
                        <a:buNone/>
                      </a:pPr>
                      <a:r>
                        <a:rPr lang="en-IN" sz="800" b="0" i="0" u="none" strike="noStrike">
                          <a:solidFill>
                            <a:srgbClr val="000000"/>
                          </a:solidFill>
                          <a:effectLst/>
                          <a:latin typeface="Arial" panose="020B0604020202020204" pitchFamily="34" charset="0"/>
                        </a:rPr>
                        <a:t>684</a:t>
                      </a:r>
                      <a:endParaRPr lang="en-IN" sz="1400">
                        <a:effectLst/>
                      </a:endParaRPr>
                    </a:p>
                  </a:txBody>
                  <a:tcPr marL="19673" marR="19673" marT="19673" marB="19673">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90418001"/>
                  </a:ext>
                </a:extLst>
              </a:tr>
              <a:tr h="678556">
                <a:tc>
                  <a:txBody>
                    <a:bodyPr/>
                    <a:lstStyle/>
                    <a:p>
                      <a:pPr rtl="0" fontAlgn="t">
                        <a:buNone/>
                      </a:pPr>
                      <a:r>
                        <a:rPr lang="en-IN" sz="800" b="1" i="0" u="none" strike="noStrike">
                          <a:solidFill>
                            <a:srgbClr val="000000"/>
                          </a:solidFill>
                          <a:effectLst/>
                          <a:latin typeface="Arial" panose="020B0604020202020204" pitchFamily="34" charset="0"/>
                        </a:rPr>
                        <a:t>Early Decline / At-Risk of Churn</a:t>
                      </a:r>
                      <a:endParaRPr lang="en-IN" sz="1400">
                        <a:effectLst/>
                      </a:endParaRPr>
                    </a:p>
                  </a:txBody>
                  <a:tcPr marL="19673" marR="19673" marT="19673" marB="19673">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rtl="0" fontAlgn="t">
                        <a:buNone/>
                      </a:pPr>
                      <a:r>
                        <a:rPr lang="en-IN" sz="800" b="0" i="0" u="none" strike="noStrike">
                          <a:solidFill>
                            <a:srgbClr val="000000"/>
                          </a:solidFill>
                          <a:effectLst/>
                          <a:latin typeface="Arial" panose="020B0604020202020204" pitchFamily="34" charset="0"/>
                        </a:rPr>
                        <a:t>Users who previously showed significant engagement (sometimes high-value) but have recently shown a clear and concerning decline in activity. They are at high risk of churning if not re-engaged promptly.</a:t>
                      </a:r>
                      <a:endParaRPr lang="en-IN" sz="1400">
                        <a:effectLst/>
                      </a:endParaRPr>
                    </a:p>
                  </a:txBody>
                  <a:tcPr marL="19673" marR="19673" marT="19673" marB="19673">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rtl="0" fontAlgn="t">
                        <a:buNone/>
                      </a:pPr>
                      <a:r>
                        <a:rPr lang="en-IN" sz="800" b="0" i="0" u="none" strike="noStrike">
                          <a:solidFill>
                            <a:srgbClr val="000000"/>
                          </a:solidFill>
                          <a:effectLst/>
                          <a:latin typeface="Arial" panose="020B0604020202020204" pitchFamily="34" charset="0"/>
                        </a:rPr>
                        <a:t>Significant decrease in frequency, session length, and/or stake size in the recent period compared to earlier activity. They are not entirely inactive but are showing strong signs of reduced engagement.</a:t>
                      </a:r>
                      <a:endParaRPr lang="en-IN" sz="1400">
                        <a:effectLst/>
                      </a:endParaRPr>
                    </a:p>
                  </a:txBody>
                  <a:tcPr marL="19673" marR="19673" marT="19673" marB="19673">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rtl="0" fontAlgn="t">
                        <a:buNone/>
                      </a:pPr>
                      <a:r>
                        <a:rPr lang="en-IN" sz="800" b="0" i="0" u="none" strike="noStrike">
                          <a:solidFill>
                            <a:srgbClr val="000000"/>
                          </a:solidFill>
                          <a:effectLst/>
                          <a:latin typeface="Arial" panose="020B0604020202020204" pitchFamily="34" charset="0"/>
                        </a:rPr>
                        <a:t>High. Aggressive re-engagement strategies are needed, including personalized win-back offers, strong incentives, and reminders of the platform's value.</a:t>
                      </a:r>
                      <a:endParaRPr lang="en-IN" sz="1400">
                        <a:effectLst/>
                      </a:endParaRPr>
                    </a:p>
                  </a:txBody>
                  <a:tcPr marL="19673" marR="19673" marT="19673" marB="19673">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rtl="0" fontAlgn="t">
                        <a:buNone/>
                      </a:pPr>
                      <a:r>
                        <a:rPr lang="en-IN" sz="800" b="0" i="0" u="none" strike="noStrike">
                          <a:solidFill>
                            <a:srgbClr val="000000"/>
                          </a:solidFill>
                          <a:effectLst/>
                          <a:latin typeface="Arial" panose="020B0604020202020204" pitchFamily="34" charset="0"/>
                        </a:rPr>
                        <a:t>Significantly lower playing frequency, shorter sessions, and/or reduced stake size in the recent period compared to the earlier part of the month.</a:t>
                      </a:r>
                      <a:endParaRPr lang="en-IN" sz="1400">
                        <a:effectLst/>
                      </a:endParaRPr>
                    </a:p>
                  </a:txBody>
                  <a:tcPr marL="19673" marR="19673" marT="19673" marB="19673">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rtl="0" fontAlgn="t">
                        <a:buNone/>
                      </a:pPr>
                      <a:r>
                        <a:rPr lang="en-IN" sz="800" b="0" i="0" u="none" strike="noStrike">
                          <a:solidFill>
                            <a:srgbClr val="000000"/>
                          </a:solidFill>
                          <a:effectLst/>
                          <a:latin typeface="Arial" panose="020B0604020202020204" pitchFamily="34" charset="0"/>
                        </a:rPr>
                        <a:t>134</a:t>
                      </a:r>
                      <a:endParaRPr lang="en-IN" sz="1400">
                        <a:effectLst/>
                      </a:endParaRPr>
                    </a:p>
                  </a:txBody>
                  <a:tcPr marL="19673" marR="19673" marT="19673" marB="19673">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699477077"/>
                  </a:ext>
                </a:extLst>
              </a:tr>
              <a:tr h="800542">
                <a:tc>
                  <a:txBody>
                    <a:bodyPr/>
                    <a:lstStyle/>
                    <a:p>
                      <a:pPr rtl="0" fontAlgn="t">
                        <a:buNone/>
                      </a:pPr>
                      <a:r>
                        <a:rPr lang="en-IN" sz="800" b="1" i="0" u="none" strike="noStrike">
                          <a:solidFill>
                            <a:srgbClr val="000000"/>
                          </a:solidFill>
                          <a:effectLst/>
                          <a:latin typeface="Arial" panose="020B0604020202020204" pitchFamily="34" charset="0"/>
                        </a:rPr>
                        <a:t>Largely Inactive / Churned (Re-activation Priority)</a:t>
                      </a:r>
                      <a:endParaRPr lang="en-IN" sz="1400">
                        <a:effectLst/>
                      </a:endParaRPr>
                    </a:p>
                  </a:txBody>
                  <a:tcPr marL="19673" marR="19673" marT="19673" marB="19673">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rtl="0" fontAlgn="t">
                        <a:buNone/>
                      </a:pPr>
                      <a:r>
                        <a:rPr lang="en-IN" sz="800" b="0" i="0" u="none" strike="noStrike">
                          <a:solidFill>
                            <a:srgbClr val="000000"/>
                          </a:solidFill>
                          <a:effectLst/>
                          <a:latin typeface="Arial" panose="020B0604020202020204" pitchFamily="34" charset="0"/>
                        </a:rPr>
                        <a:t>Users who show clear signs of having churned or being largely inactive. They often had initial activity, but their recent playing frequency and/or stake sizes have ceased entirely or are extremely low. These users require immediate and strong re-engagement efforts.</a:t>
                      </a:r>
                      <a:endParaRPr lang="en-IN" sz="1400">
                        <a:effectLst/>
                      </a:endParaRPr>
                    </a:p>
                  </a:txBody>
                  <a:tcPr marL="19673" marR="19673" marT="19673" marB="19673">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rtl="0" fontAlgn="t">
                        <a:buNone/>
                      </a:pPr>
                      <a:r>
                        <a:rPr lang="en-IN" sz="800" b="0" i="0" u="none" strike="noStrike">
                          <a:solidFill>
                            <a:srgbClr val="000000"/>
                          </a:solidFill>
                          <a:effectLst/>
                          <a:latin typeface="Arial" panose="020B0604020202020204" pitchFamily="34" charset="0"/>
                        </a:rPr>
                        <a:t>Characterized by a sharp decrease or complete cessation of activity in the recent period. Earlier activity might have ranged, but current engagement is non-existent or extremely low.</a:t>
                      </a:r>
                      <a:endParaRPr lang="en-IN" sz="1400">
                        <a:effectLst/>
                      </a:endParaRPr>
                    </a:p>
                  </a:txBody>
                  <a:tcPr marL="19673" marR="19673" marT="19673" marB="19673">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rtl="0" fontAlgn="t">
                        <a:buNone/>
                      </a:pPr>
                      <a:r>
                        <a:rPr lang="en-IN" sz="800" b="0" i="0" u="none" strike="noStrike">
                          <a:solidFill>
                            <a:srgbClr val="000000"/>
                          </a:solidFill>
                          <a:effectLst/>
                          <a:latin typeface="Arial" panose="020B0604020202020204" pitchFamily="34" charset="0"/>
                        </a:rPr>
                        <a:t>Very High. The primary objective is re-activation. Nudging should be aggressive and include compelling incentives such as significant free plays, substantial bonus credits, or personalized win-boost offers designed to bring them back.</a:t>
                      </a:r>
                      <a:endParaRPr lang="en-IN" sz="1400">
                        <a:effectLst/>
                      </a:endParaRPr>
                    </a:p>
                  </a:txBody>
                  <a:tcPr marL="19673" marR="19673" marT="19673" marB="19673">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rtl="0" fontAlgn="t">
                        <a:buNone/>
                      </a:pPr>
                      <a:r>
                        <a:rPr lang="en-IN" sz="800" b="0" i="0" u="none" strike="noStrike">
                          <a:solidFill>
                            <a:srgbClr val="000000"/>
                          </a:solidFill>
                          <a:effectLst/>
                          <a:latin typeface="Arial" panose="020B0604020202020204" pitchFamily="34" charset="0"/>
                        </a:rPr>
                        <a:t>Activity in the recent period is significantly lower, or non-existent, compared to earlier periods. This group shows a strong and concerning trend of decline or has been consistently low/infrequent throughout.</a:t>
                      </a:r>
                      <a:endParaRPr lang="en-IN" sz="1400">
                        <a:effectLst/>
                      </a:endParaRPr>
                    </a:p>
                  </a:txBody>
                  <a:tcPr marL="19673" marR="19673" marT="19673" marB="19673">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rtl="0" fontAlgn="t">
                        <a:buNone/>
                      </a:pPr>
                      <a:r>
                        <a:rPr lang="en-IN" sz="800" b="0" i="0" u="none" strike="noStrike">
                          <a:solidFill>
                            <a:srgbClr val="000000"/>
                          </a:solidFill>
                          <a:effectLst/>
                          <a:latin typeface="Arial" panose="020B0604020202020204" pitchFamily="34" charset="0"/>
                        </a:rPr>
                        <a:t>545</a:t>
                      </a:r>
                      <a:endParaRPr lang="en-IN" sz="1400">
                        <a:effectLst/>
                      </a:endParaRPr>
                    </a:p>
                  </a:txBody>
                  <a:tcPr marL="19673" marR="19673" marT="19673" marB="19673">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129569735"/>
                  </a:ext>
                </a:extLst>
              </a:tr>
              <a:tr h="800542">
                <a:tc>
                  <a:txBody>
                    <a:bodyPr/>
                    <a:lstStyle/>
                    <a:p>
                      <a:pPr rtl="0" fontAlgn="t">
                        <a:buNone/>
                      </a:pPr>
                      <a:r>
                        <a:rPr lang="en-IN" sz="800" b="1" i="0" u="none" strike="noStrike">
                          <a:solidFill>
                            <a:srgbClr val="000000"/>
                          </a:solidFill>
                          <a:effectLst/>
                          <a:latin typeface="Arial" panose="020B0604020202020204" pitchFamily="34" charset="0"/>
                        </a:rPr>
                        <a:t>Moderate Frequency, Mixed Stakes, Variable Engagement</a:t>
                      </a:r>
                      <a:endParaRPr lang="en-IN" sz="1400">
                        <a:effectLst/>
                      </a:endParaRPr>
                    </a:p>
                  </a:txBody>
                  <a:tcPr marL="19673" marR="19673" marT="19673" marB="19673">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rtl="0" fontAlgn="t">
                        <a:buNone/>
                      </a:pPr>
                      <a:r>
                        <a:rPr lang="en-IN" sz="800" b="0" i="0" u="none" strike="noStrike">
                          <a:solidFill>
                            <a:srgbClr val="000000"/>
                          </a:solidFill>
                          <a:effectLst/>
                          <a:latin typeface="Arial" panose="020B0604020202020204" pitchFamily="34" charset="0"/>
                        </a:rPr>
                        <a:t>These users show moderate and often fluctuating playing frequency with mixed stake sizes. Their activity is less consistent than high-frequency players but more sustained than sporadic players.</a:t>
                      </a:r>
                      <a:endParaRPr lang="en-IN" sz="1400">
                        <a:effectLst/>
                      </a:endParaRPr>
                    </a:p>
                  </a:txBody>
                  <a:tcPr marL="19673" marR="19673" marT="19673" marB="19673">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rtl="0" fontAlgn="t">
                        <a:buNone/>
                      </a:pPr>
                      <a:r>
                        <a:rPr lang="en-IN" sz="800" b="0" i="0" u="none" strike="noStrike">
                          <a:solidFill>
                            <a:srgbClr val="000000"/>
                          </a:solidFill>
                          <a:effectLst/>
                          <a:latin typeface="Arial" panose="020B0604020202020204" pitchFamily="34" charset="0"/>
                        </a:rPr>
                        <a:t>Moderate frequency, varying from low to medium stakes with occasional higher spikes. Activity shows periods of both engagement and quiet spells.</a:t>
                      </a:r>
                      <a:endParaRPr lang="en-IN" sz="1400">
                        <a:effectLst/>
                      </a:endParaRPr>
                    </a:p>
                  </a:txBody>
                  <a:tcPr marL="19673" marR="19673" marT="19673" marB="19673">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rtl="0" fontAlgn="t">
                        <a:buNone/>
                      </a:pPr>
                      <a:r>
                        <a:rPr lang="en-IN" sz="800" b="0" i="0" u="none" strike="noStrike">
                          <a:solidFill>
                            <a:srgbClr val="000000"/>
                          </a:solidFill>
                          <a:effectLst/>
                          <a:latin typeface="Arial" panose="020B0604020202020204" pitchFamily="34" charset="0"/>
                        </a:rPr>
                        <a:t>Moderate. Aim to stabilize engagement and encourage more consistent play, potentially increasing stake size or frequency with tailored offers (e.g., daily login bonuses, challenges, rewards for specific stake volumes).</a:t>
                      </a:r>
                      <a:endParaRPr lang="en-IN" sz="1400">
                        <a:effectLst/>
                      </a:endParaRPr>
                    </a:p>
                  </a:txBody>
                  <a:tcPr marL="19673" marR="19673" marT="19673" marB="19673">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rtl="0" fontAlgn="t">
                        <a:buNone/>
                      </a:pPr>
                      <a:r>
                        <a:rPr lang="en-IN" sz="800" b="0" i="0" u="none" strike="noStrike">
                          <a:solidFill>
                            <a:srgbClr val="000000"/>
                          </a:solidFill>
                          <a:effectLst/>
                          <a:latin typeface="Arial" panose="020B0604020202020204" pitchFamily="34" charset="0"/>
                        </a:rPr>
                        <a:t>Mixed trends, some maintaining moderate activity, others showing slight increases or decreases, or a shift in pattern. The overall characteristic is fluctuation rather than a clear upward or downward trend.</a:t>
                      </a:r>
                      <a:endParaRPr lang="en-IN" sz="1400">
                        <a:effectLst/>
                      </a:endParaRPr>
                    </a:p>
                  </a:txBody>
                  <a:tcPr marL="19673" marR="19673" marT="19673" marB="19673">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rtl="0" fontAlgn="t">
                        <a:buNone/>
                      </a:pPr>
                      <a:r>
                        <a:rPr lang="en-IN" sz="800" b="0" i="0" u="none" strike="noStrike">
                          <a:solidFill>
                            <a:srgbClr val="000000"/>
                          </a:solidFill>
                          <a:effectLst/>
                          <a:latin typeface="Arial" panose="020B0604020202020204" pitchFamily="34" charset="0"/>
                        </a:rPr>
                        <a:t>319</a:t>
                      </a:r>
                      <a:endParaRPr lang="en-IN" sz="1400">
                        <a:effectLst/>
                      </a:endParaRPr>
                    </a:p>
                  </a:txBody>
                  <a:tcPr marL="19673" marR="19673" marT="19673" marB="19673">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272804098"/>
                  </a:ext>
                </a:extLst>
              </a:tr>
            </a:tbl>
          </a:graphicData>
        </a:graphic>
      </p:graphicFrame>
    </p:spTree>
    <p:extLst>
      <p:ext uri="{BB962C8B-B14F-4D97-AF65-F5344CB8AC3E}">
        <p14:creationId xmlns:p14="http://schemas.microsoft.com/office/powerpoint/2010/main" val="47493107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FD1175-D0AA-4725-93C6-70CD06671B60}"/>
              </a:ext>
            </a:extLst>
          </p:cNvPr>
          <p:cNvSpPr>
            <a:spLocks noGrp="1"/>
          </p:cNvSpPr>
          <p:nvPr>
            <p:ph type="title"/>
          </p:nvPr>
        </p:nvSpPr>
        <p:spPr/>
        <p:txBody>
          <a:bodyPr/>
          <a:lstStyle/>
          <a:p>
            <a:r>
              <a:rPr lang="en-US" dirty="0"/>
              <a:t>Evaluation</a:t>
            </a:r>
          </a:p>
        </p:txBody>
      </p:sp>
      <p:sp>
        <p:nvSpPr>
          <p:cNvPr id="3" name="Content Placeholder 2">
            <a:extLst>
              <a:ext uri="{FF2B5EF4-FFF2-40B4-BE49-F238E27FC236}">
                <a16:creationId xmlns:a16="http://schemas.microsoft.com/office/drawing/2014/main" id="{2B1C3605-19DE-CB9E-9C2B-A6907108868B}"/>
              </a:ext>
            </a:extLst>
          </p:cNvPr>
          <p:cNvSpPr>
            <a:spLocks noGrp="1"/>
          </p:cNvSpPr>
          <p:nvPr>
            <p:ph idx="1"/>
          </p:nvPr>
        </p:nvSpPr>
        <p:spPr/>
        <p:txBody>
          <a:bodyPr/>
          <a:lstStyle/>
          <a:p>
            <a:r>
              <a:rPr lang="en-US" dirty="0"/>
              <a:t>Metric-based</a:t>
            </a:r>
          </a:p>
          <a:p>
            <a:endParaRPr lang="en-US" dirty="0"/>
          </a:p>
          <a:p>
            <a:r>
              <a:rPr lang="en-US" dirty="0"/>
              <a:t>LLM as Judge </a:t>
            </a:r>
          </a:p>
          <a:p>
            <a:endParaRPr lang="en-US" dirty="0"/>
          </a:p>
          <a:p>
            <a:r>
              <a:rPr lang="en-US" dirty="0"/>
              <a:t>Human-in-the-loop</a:t>
            </a:r>
          </a:p>
          <a:p>
            <a:endParaRPr lang="en-US" dirty="0"/>
          </a:p>
          <a:p>
            <a:r>
              <a:rPr lang="en-US" dirty="0"/>
              <a:t>Vision-driven</a:t>
            </a:r>
          </a:p>
        </p:txBody>
      </p:sp>
    </p:spTree>
    <p:extLst>
      <p:ext uri="{BB962C8B-B14F-4D97-AF65-F5344CB8AC3E}">
        <p14:creationId xmlns:p14="http://schemas.microsoft.com/office/powerpoint/2010/main" val="203358436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F3060C83-F051-4F0E-ABAD-AA0DFC48B2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Freeform: Shape 11">
            <a:extLst>
              <a:ext uri="{FF2B5EF4-FFF2-40B4-BE49-F238E27FC236}">
                <a16:creationId xmlns:a16="http://schemas.microsoft.com/office/drawing/2014/main" id="{83C98ABE-055B-441F-B07E-44F97F083C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376156" y="-253670"/>
            <a:ext cx="1827638" cy="1376989"/>
          </a:xfrm>
          <a:custGeom>
            <a:avLst/>
            <a:gdLst>
              <a:gd name="connsiteX0" fmla="*/ 0 w 1827638"/>
              <a:gd name="connsiteY0" fmla="*/ 987379 h 1376989"/>
              <a:gd name="connsiteX1" fmla="*/ 987379 w 1827638"/>
              <a:gd name="connsiteY1" fmla="*/ 0 h 1376989"/>
              <a:gd name="connsiteX2" fmla="*/ 1827638 w 1827638"/>
              <a:gd name="connsiteY2" fmla="*/ 840260 h 1376989"/>
              <a:gd name="connsiteX3" fmla="*/ 1827638 w 1827638"/>
              <a:gd name="connsiteY3" fmla="*/ 1376989 h 1376989"/>
              <a:gd name="connsiteX4" fmla="*/ 0 w 1827638"/>
              <a:gd name="connsiteY4" fmla="*/ 1376989 h 13769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7638" h="1376989">
                <a:moveTo>
                  <a:pt x="0" y="987379"/>
                </a:moveTo>
                <a:lnTo>
                  <a:pt x="987379" y="0"/>
                </a:lnTo>
                <a:lnTo>
                  <a:pt x="1827638" y="840260"/>
                </a:lnTo>
                <a:lnTo>
                  <a:pt x="1827638" y="1376989"/>
                </a:lnTo>
                <a:lnTo>
                  <a:pt x="0" y="1376989"/>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Rectangle 13">
            <a:extLst>
              <a:ext uri="{FF2B5EF4-FFF2-40B4-BE49-F238E27FC236}">
                <a16:creationId xmlns:a16="http://schemas.microsoft.com/office/drawing/2014/main" id="{29FDB030-9B49-4CED-8CCD-4D99382388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891641" y="422146"/>
            <a:ext cx="645368" cy="64536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3783CA14-24A1-485C-8B30-D6A5D87987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10043482" y="655140"/>
            <a:ext cx="687472" cy="687472"/>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Freeform: Shape 17">
            <a:extLst>
              <a:ext uri="{FF2B5EF4-FFF2-40B4-BE49-F238E27FC236}">
                <a16:creationId xmlns:a16="http://schemas.microsoft.com/office/drawing/2014/main" id="{9A97C86A-04D6-40F7-AE84-31AB43E6A8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9356643" y="0"/>
            <a:ext cx="2835357" cy="1480837"/>
          </a:xfrm>
          <a:custGeom>
            <a:avLst/>
            <a:gdLst>
              <a:gd name="connsiteX0" fmla="*/ 2835357 w 2835357"/>
              <a:gd name="connsiteY0" fmla="*/ 1480837 h 1480837"/>
              <a:gd name="connsiteX1" fmla="*/ 0 w 2835357"/>
              <a:gd name="connsiteY1" fmla="*/ 1480837 h 1480837"/>
              <a:gd name="connsiteX2" fmla="*/ 1552727 w 2835357"/>
              <a:gd name="connsiteY2" fmla="*/ 0 h 1480837"/>
              <a:gd name="connsiteX3" fmla="*/ 2835357 w 2835357"/>
              <a:gd name="connsiteY3" fmla="*/ 1223245 h 1480837"/>
            </a:gdLst>
            <a:ahLst/>
            <a:cxnLst>
              <a:cxn ang="0">
                <a:pos x="connsiteX0" y="connsiteY0"/>
              </a:cxn>
              <a:cxn ang="0">
                <a:pos x="connsiteX1" y="connsiteY1"/>
              </a:cxn>
              <a:cxn ang="0">
                <a:pos x="connsiteX2" y="connsiteY2"/>
              </a:cxn>
              <a:cxn ang="0">
                <a:pos x="connsiteX3" y="connsiteY3"/>
              </a:cxn>
            </a:cxnLst>
            <a:rect l="l" t="t" r="r" b="b"/>
            <a:pathLst>
              <a:path w="2835357" h="1480837">
                <a:moveTo>
                  <a:pt x="2835357" y="1480837"/>
                </a:moveTo>
                <a:lnTo>
                  <a:pt x="0" y="1480837"/>
                </a:lnTo>
                <a:lnTo>
                  <a:pt x="1552727" y="0"/>
                </a:lnTo>
                <a:lnTo>
                  <a:pt x="2835357" y="1223245"/>
                </a:ln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Isosceles Triangle 19">
            <a:extLst>
              <a:ext uri="{FF2B5EF4-FFF2-40B4-BE49-F238E27FC236}">
                <a16:creationId xmlns:a16="http://schemas.microsoft.com/office/drawing/2014/main" id="{FF9F2414-84E8-453E-B1F3-389FDE8192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976344" y="6115501"/>
            <a:ext cx="1494513" cy="742499"/>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Isosceles Triangle 21">
            <a:extLst>
              <a:ext uri="{FF2B5EF4-FFF2-40B4-BE49-F238E27FC236}">
                <a16:creationId xmlns:a16="http://schemas.microsoft.com/office/drawing/2014/main" id="{3ECA69A1-7536-43AC-85EF-C7106179F5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604080" y="6453143"/>
            <a:ext cx="814903" cy="404857"/>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1">
            <a:extLst>
              <a:ext uri="{FF2B5EF4-FFF2-40B4-BE49-F238E27FC236}">
                <a16:creationId xmlns:a16="http://schemas.microsoft.com/office/drawing/2014/main" id="{EF46D7F3-730B-EC6F-870C-AD2FDF670A2A}"/>
              </a:ext>
            </a:extLst>
          </p:cNvPr>
          <p:cNvSpPr>
            <a:spLocks noChangeArrowheads="1"/>
          </p:cNvSpPr>
          <p:nvPr/>
        </p:nvSpPr>
        <p:spPr bwMode="auto">
          <a:xfrm>
            <a:off x="5150063" y="2088431"/>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4" name="Content Placeholder 3">
            <a:extLst>
              <a:ext uri="{FF2B5EF4-FFF2-40B4-BE49-F238E27FC236}">
                <a16:creationId xmlns:a16="http://schemas.microsoft.com/office/drawing/2014/main" id="{EFE0965C-A593-768D-D8D4-6800D5EE5D6E}"/>
              </a:ext>
            </a:extLst>
          </p:cNvPr>
          <p:cNvGraphicFramePr>
            <a:graphicFrameLocks noGrp="1"/>
          </p:cNvGraphicFramePr>
          <p:nvPr>
            <p:ph idx="1"/>
            <p:extLst>
              <p:ext uri="{D42A27DB-BD31-4B8C-83A1-F6EECF244321}">
                <p14:modId xmlns:p14="http://schemas.microsoft.com/office/powerpoint/2010/main" val="4072098992"/>
              </p:ext>
            </p:extLst>
          </p:nvPr>
        </p:nvGraphicFramePr>
        <p:xfrm>
          <a:off x="859580" y="1374141"/>
          <a:ext cx="10905069" cy="4848057"/>
        </p:xfrm>
        <a:graphic>
          <a:graphicData uri="http://schemas.openxmlformats.org/drawingml/2006/table">
            <a:tbl>
              <a:tblPr/>
              <a:tblGrid>
                <a:gridCol w="746891">
                  <a:extLst>
                    <a:ext uri="{9D8B030D-6E8A-4147-A177-3AD203B41FA5}">
                      <a16:colId xmlns:a16="http://schemas.microsoft.com/office/drawing/2014/main" val="3223978367"/>
                    </a:ext>
                  </a:extLst>
                </a:gridCol>
                <a:gridCol w="1403863">
                  <a:extLst>
                    <a:ext uri="{9D8B030D-6E8A-4147-A177-3AD203B41FA5}">
                      <a16:colId xmlns:a16="http://schemas.microsoft.com/office/drawing/2014/main" val="3197562044"/>
                    </a:ext>
                  </a:extLst>
                </a:gridCol>
                <a:gridCol w="1339161">
                  <a:extLst>
                    <a:ext uri="{9D8B030D-6E8A-4147-A177-3AD203B41FA5}">
                      <a16:colId xmlns:a16="http://schemas.microsoft.com/office/drawing/2014/main" val="2329493899"/>
                    </a:ext>
                  </a:extLst>
                </a:gridCol>
                <a:gridCol w="1757234">
                  <a:extLst>
                    <a:ext uri="{9D8B030D-6E8A-4147-A177-3AD203B41FA5}">
                      <a16:colId xmlns:a16="http://schemas.microsoft.com/office/drawing/2014/main" val="1503410736"/>
                    </a:ext>
                  </a:extLst>
                </a:gridCol>
                <a:gridCol w="2606651">
                  <a:extLst>
                    <a:ext uri="{9D8B030D-6E8A-4147-A177-3AD203B41FA5}">
                      <a16:colId xmlns:a16="http://schemas.microsoft.com/office/drawing/2014/main" val="3327719009"/>
                    </a:ext>
                  </a:extLst>
                </a:gridCol>
                <a:gridCol w="3051269">
                  <a:extLst>
                    <a:ext uri="{9D8B030D-6E8A-4147-A177-3AD203B41FA5}">
                      <a16:colId xmlns:a16="http://schemas.microsoft.com/office/drawing/2014/main" val="2267919694"/>
                    </a:ext>
                  </a:extLst>
                </a:gridCol>
              </a:tblGrid>
              <a:tr h="516022">
                <a:tc>
                  <a:txBody>
                    <a:bodyPr/>
                    <a:lstStyle/>
                    <a:p>
                      <a:pPr algn="l" rtl="0" fontAlgn="t">
                        <a:buNone/>
                      </a:pPr>
                      <a:r>
                        <a:rPr lang="en-IN" sz="1000" b="0" i="0" u="none" strike="noStrike">
                          <a:solidFill>
                            <a:srgbClr val="1B1C1D"/>
                          </a:solidFill>
                          <a:effectLst/>
                          <a:latin typeface="Google Sans Text"/>
                        </a:rPr>
                        <a:t>Metric Name</a:t>
                      </a:r>
                      <a:endParaRPr lang="en-IN" sz="1900" b="0" i="0" u="none" strike="noStrike">
                        <a:effectLst/>
                        <a:latin typeface="Arial" panose="020B0604020202020204" pitchFamily="34" charset="0"/>
                      </a:endParaRPr>
                    </a:p>
                  </a:txBody>
                  <a:tcPr marL="119449" marR="119449" marT="79633" marB="79633">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8FAFD"/>
                    </a:solidFill>
                  </a:tcPr>
                </a:tc>
                <a:tc>
                  <a:txBody>
                    <a:bodyPr/>
                    <a:lstStyle/>
                    <a:p>
                      <a:pPr algn="l" rtl="0" fontAlgn="t">
                        <a:buNone/>
                      </a:pPr>
                      <a:r>
                        <a:rPr lang="en-IN" sz="1000" b="0" i="0" u="none" strike="noStrike">
                          <a:solidFill>
                            <a:srgbClr val="1B1C1D"/>
                          </a:solidFill>
                          <a:effectLst/>
                          <a:latin typeface="Google Sans Text"/>
                        </a:rPr>
                        <a:t>What It Measures</a:t>
                      </a:r>
                      <a:endParaRPr lang="en-IN" sz="1900" b="0" i="0" u="none" strike="noStrike">
                        <a:effectLst/>
                        <a:latin typeface="Arial" panose="020B0604020202020204" pitchFamily="34" charset="0"/>
                      </a:endParaRPr>
                    </a:p>
                  </a:txBody>
                  <a:tcPr marL="119449" marR="119449" marT="79633" marB="79633">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8FAFD"/>
                    </a:solidFill>
                  </a:tcPr>
                </a:tc>
                <a:tc>
                  <a:txBody>
                    <a:bodyPr/>
                    <a:lstStyle/>
                    <a:p>
                      <a:pPr algn="l" rtl="0" fontAlgn="t">
                        <a:buNone/>
                      </a:pPr>
                      <a:r>
                        <a:rPr lang="en-IN" sz="1000" b="0" i="0" u="none" strike="noStrike">
                          <a:solidFill>
                            <a:srgbClr val="1B1C1D"/>
                          </a:solidFill>
                          <a:effectLst/>
                          <a:latin typeface="Google Sans Text"/>
                        </a:rPr>
                        <a:t>Category</a:t>
                      </a:r>
                      <a:endParaRPr lang="en-IN" sz="1900" b="0" i="0" u="none" strike="noStrike">
                        <a:effectLst/>
                        <a:latin typeface="Arial" panose="020B0604020202020204" pitchFamily="34" charset="0"/>
                      </a:endParaRPr>
                    </a:p>
                  </a:txBody>
                  <a:tcPr marL="119449" marR="119449" marT="79633" marB="79633">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8FAFD"/>
                    </a:solidFill>
                  </a:tcPr>
                </a:tc>
                <a:tc>
                  <a:txBody>
                    <a:bodyPr/>
                    <a:lstStyle/>
                    <a:p>
                      <a:pPr algn="l" rtl="0" fontAlgn="t">
                        <a:buNone/>
                      </a:pPr>
                      <a:r>
                        <a:rPr lang="en-IN" sz="1000" b="0" i="0" u="none" strike="noStrike">
                          <a:solidFill>
                            <a:srgbClr val="1B1C1D"/>
                          </a:solidFill>
                          <a:effectLst/>
                          <a:latin typeface="Google Sans Text"/>
                        </a:rPr>
                        <a:t>Pros</a:t>
                      </a:r>
                      <a:endParaRPr lang="en-IN" sz="1900" b="0" i="0" u="none" strike="noStrike">
                        <a:effectLst/>
                        <a:latin typeface="Arial" panose="020B0604020202020204" pitchFamily="34" charset="0"/>
                      </a:endParaRPr>
                    </a:p>
                  </a:txBody>
                  <a:tcPr marL="119449" marR="119449" marT="79633" marB="79633">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8FAFD"/>
                    </a:solidFill>
                  </a:tcPr>
                </a:tc>
                <a:tc>
                  <a:txBody>
                    <a:bodyPr/>
                    <a:lstStyle/>
                    <a:p>
                      <a:pPr algn="l" rtl="0" fontAlgn="t">
                        <a:buNone/>
                      </a:pPr>
                      <a:r>
                        <a:rPr lang="en-IN" sz="1000" b="0" i="0" u="none" strike="noStrike">
                          <a:solidFill>
                            <a:srgbClr val="1B1C1D"/>
                          </a:solidFill>
                          <a:effectLst/>
                          <a:latin typeface="Google Sans Text"/>
                        </a:rPr>
                        <a:t>Cons</a:t>
                      </a:r>
                      <a:endParaRPr lang="en-IN" sz="1900" b="0" i="0" u="none" strike="noStrike">
                        <a:effectLst/>
                        <a:latin typeface="Arial" panose="020B0604020202020204" pitchFamily="34" charset="0"/>
                      </a:endParaRPr>
                    </a:p>
                  </a:txBody>
                  <a:tcPr marL="119449" marR="119449" marT="79633" marB="79633">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8FAFD"/>
                    </a:solidFill>
                  </a:tcPr>
                </a:tc>
                <a:tc>
                  <a:txBody>
                    <a:bodyPr/>
                    <a:lstStyle/>
                    <a:p>
                      <a:pPr algn="l" rtl="0" fontAlgn="t">
                        <a:buNone/>
                      </a:pPr>
                      <a:r>
                        <a:rPr lang="en-IN" sz="1000" b="0" i="0" u="none" strike="noStrike">
                          <a:solidFill>
                            <a:srgbClr val="1B1C1D"/>
                          </a:solidFill>
                          <a:effectLst/>
                          <a:latin typeface="Google Sans Text"/>
                        </a:rPr>
                        <a:t>Applicability to Gaming Profile</a:t>
                      </a:r>
                      <a:endParaRPr lang="en-IN" sz="1900" b="0" i="0" u="none" strike="noStrike">
                        <a:effectLst/>
                        <a:latin typeface="Arial" panose="020B0604020202020204" pitchFamily="34" charset="0"/>
                      </a:endParaRPr>
                    </a:p>
                  </a:txBody>
                  <a:tcPr marL="119449" marR="119449" marT="79633" marB="79633">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8FAFD"/>
                    </a:solidFill>
                  </a:tcPr>
                </a:tc>
                <a:extLst>
                  <a:ext uri="{0D108BD9-81ED-4DB2-BD59-A6C34878D82A}">
                    <a16:rowId xmlns:a16="http://schemas.microsoft.com/office/drawing/2014/main" val="1230156176"/>
                  </a:ext>
                </a:extLst>
              </a:tr>
              <a:tr h="834554">
                <a:tc>
                  <a:txBody>
                    <a:bodyPr/>
                    <a:lstStyle/>
                    <a:p>
                      <a:pPr algn="l" rtl="0" fontAlgn="t">
                        <a:buNone/>
                      </a:pPr>
                      <a:r>
                        <a:rPr lang="en-IN" sz="1000" b="1" i="0" u="none" strike="noStrike" dirty="0">
                          <a:solidFill>
                            <a:schemeClr val="tx2">
                              <a:lumMod val="75000"/>
                              <a:lumOff val="25000"/>
                            </a:schemeClr>
                          </a:solidFill>
                          <a:effectLst/>
                          <a:latin typeface="Google Sans Text"/>
                        </a:rPr>
                        <a:t>CLIP Score</a:t>
                      </a:r>
                      <a:endParaRPr lang="en-IN" sz="1900" b="0" i="0" u="none" strike="noStrike" dirty="0">
                        <a:solidFill>
                          <a:schemeClr val="tx2">
                            <a:lumMod val="75000"/>
                            <a:lumOff val="25000"/>
                          </a:schemeClr>
                        </a:solidFill>
                        <a:effectLst/>
                        <a:latin typeface="Arial" panose="020B0604020202020204" pitchFamily="34" charset="0"/>
                      </a:endParaRPr>
                    </a:p>
                  </a:txBody>
                  <a:tcPr marL="119449" marR="119449" marT="79633" marB="79633">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l" rtl="0" fontAlgn="t">
                        <a:buNone/>
                      </a:pPr>
                      <a:r>
                        <a:rPr lang="en-IN" sz="1000" b="0" i="0" u="none" strike="noStrike" dirty="0">
                          <a:solidFill>
                            <a:srgbClr val="0000FF"/>
                          </a:solidFill>
                          <a:effectLst/>
                          <a:latin typeface="Google Sans Text"/>
                        </a:rPr>
                        <a:t>Semantic similarity between an image and a text</a:t>
                      </a:r>
                      <a:r>
                        <a:rPr lang="en-IN" sz="1000" b="0" i="0" u="none" strike="noStrike" dirty="0">
                          <a:solidFill>
                            <a:srgbClr val="1B1C1D"/>
                          </a:solidFill>
                          <a:effectLst/>
                          <a:latin typeface="Google Sans Text"/>
                        </a:rPr>
                        <a:t>.</a:t>
                      </a:r>
                      <a:endParaRPr lang="en-IN" sz="1900" b="0" i="0" u="none" strike="noStrike" dirty="0">
                        <a:effectLst/>
                        <a:latin typeface="Arial" panose="020B0604020202020204" pitchFamily="34" charset="0"/>
                      </a:endParaRPr>
                    </a:p>
                  </a:txBody>
                  <a:tcPr marL="119449" marR="119449" marT="79633" marB="79633">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l" rtl="0" fontAlgn="t">
                        <a:buNone/>
                      </a:pPr>
                      <a:r>
                        <a:rPr lang="en-IN" sz="1000" b="0" i="0" u="none" strike="noStrike">
                          <a:solidFill>
                            <a:srgbClr val="1B1C1D"/>
                          </a:solidFill>
                          <a:effectLst/>
                          <a:latin typeface="Google Sans Text"/>
                        </a:rPr>
                        <a:t>Image-Text Alignment</a:t>
                      </a:r>
                      <a:endParaRPr lang="en-IN" sz="1900" b="0" i="0" u="none" strike="noStrike">
                        <a:effectLst/>
                        <a:latin typeface="Arial" panose="020B0604020202020204" pitchFamily="34" charset="0"/>
                      </a:endParaRPr>
                    </a:p>
                  </a:txBody>
                  <a:tcPr marL="119449" marR="119449" marT="79633" marB="79633">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l" rtl="0" fontAlgn="t">
                        <a:buNone/>
                      </a:pPr>
                      <a:r>
                        <a:rPr lang="en-IN" sz="1000" b="0" i="0" u="none" strike="noStrike">
                          <a:solidFill>
                            <a:srgbClr val="1B1C1D"/>
                          </a:solidFill>
                          <a:effectLst/>
                          <a:latin typeface="Google Sans Text"/>
                        </a:rPr>
                        <a:t>Fast, automated, scalable, </a:t>
                      </a:r>
                      <a:r>
                        <a:rPr lang="en-IN" sz="1000" b="0" i="0" u="none" strike="noStrike">
                          <a:solidFill>
                            <a:srgbClr val="0000FF"/>
                          </a:solidFill>
                          <a:effectLst/>
                          <a:latin typeface="Google Sans Text"/>
                        </a:rPr>
                        <a:t>reference-free.</a:t>
                      </a:r>
                      <a:r>
                        <a:rPr lang="en-IN" sz="1000" b="0" i="0" u="none" strike="noStrike">
                          <a:solidFill>
                            <a:srgbClr val="1B1C1D"/>
                          </a:solidFill>
                          <a:effectLst/>
                          <a:latin typeface="Google Sans Text"/>
                        </a:rPr>
                        <a:t> Good for a baseline relevance check.</a:t>
                      </a:r>
                      <a:endParaRPr lang="en-IN" sz="1900" b="0" i="0" u="none" strike="noStrike">
                        <a:effectLst/>
                        <a:latin typeface="Arial" panose="020B0604020202020204" pitchFamily="34" charset="0"/>
                      </a:endParaRPr>
                    </a:p>
                  </a:txBody>
                  <a:tcPr marL="119449" marR="119449" marT="79633" marB="79633">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l" rtl="0" fontAlgn="t">
                        <a:buNone/>
                      </a:pPr>
                      <a:r>
                        <a:rPr lang="en-IN" sz="1000" b="0" i="0" u="none" strike="noStrike">
                          <a:solidFill>
                            <a:srgbClr val="1B1C1D"/>
                          </a:solidFill>
                          <a:effectLst/>
                          <a:latin typeface="Google Sans Text"/>
                        </a:rPr>
                        <a:t>Insensitive to text quality, creativity, or style. Can fail on complex compositional details. Not designed to evaluate a "persona."</a:t>
                      </a:r>
                      <a:endParaRPr lang="en-IN" sz="1900" b="0" i="0" u="none" strike="noStrike">
                        <a:effectLst/>
                        <a:latin typeface="Arial" panose="020B0604020202020204" pitchFamily="34" charset="0"/>
                      </a:endParaRPr>
                    </a:p>
                  </a:txBody>
                  <a:tcPr marL="119449" marR="119449" marT="79633" marB="79633">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l" rtl="0" fontAlgn="t">
                        <a:buNone/>
                      </a:pPr>
                      <a:r>
                        <a:rPr lang="en-IN" sz="1000" b="1" i="0" u="none" strike="noStrike" dirty="0">
                          <a:solidFill>
                            <a:srgbClr val="1B1C1D"/>
                          </a:solidFill>
                          <a:effectLst/>
                          <a:latin typeface="Google Sans Text"/>
                        </a:rPr>
                        <a:t>Medium.</a:t>
                      </a:r>
                      <a:r>
                        <a:rPr lang="en-IN" sz="1000" b="0" i="0" u="none" strike="noStrike" dirty="0">
                          <a:solidFill>
                            <a:srgbClr val="1B1C1D"/>
                          </a:solidFill>
                          <a:effectLst/>
                          <a:latin typeface="Google Sans Text"/>
                        </a:rPr>
                        <a:t> Useful as a first-pass filter for relevance, but must not be used as a standalone quality metric.</a:t>
                      </a:r>
                      <a:endParaRPr lang="en-IN" sz="1900" b="0" i="0" u="none" strike="noStrike" dirty="0">
                        <a:effectLst/>
                        <a:latin typeface="Arial" panose="020B0604020202020204" pitchFamily="34" charset="0"/>
                      </a:endParaRPr>
                    </a:p>
                  </a:txBody>
                  <a:tcPr marL="119449" marR="119449" marT="79633" marB="79633">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2011530842"/>
                  </a:ext>
                </a:extLst>
              </a:tr>
              <a:tr h="993819">
                <a:tc>
                  <a:txBody>
                    <a:bodyPr/>
                    <a:lstStyle/>
                    <a:p>
                      <a:pPr algn="l" rtl="0" fontAlgn="t">
                        <a:buNone/>
                      </a:pPr>
                      <a:r>
                        <a:rPr lang="en-IN" sz="1000" b="1" i="0" u="none" strike="noStrike">
                          <a:solidFill>
                            <a:srgbClr val="1B1C1D"/>
                          </a:solidFill>
                          <a:effectLst/>
                          <a:latin typeface="Google Sans Text"/>
                        </a:rPr>
                        <a:t>DA-Score</a:t>
                      </a:r>
                      <a:endParaRPr lang="en-IN" sz="1900" b="0" i="0" u="none" strike="noStrike">
                        <a:effectLst/>
                        <a:latin typeface="Arial" panose="020B0604020202020204" pitchFamily="34" charset="0"/>
                      </a:endParaRPr>
                    </a:p>
                  </a:txBody>
                  <a:tcPr marL="119449" marR="119449" marT="79633" marB="79633">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8FAFD"/>
                    </a:solidFill>
                  </a:tcPr>
                </a:tc>
                <a:tc>
                  <a:txBody>
                    <a:bodyPr/>
                    <a:lstStyle/>
                    <a:p>
                      <a:pPr algn="l" rtl="0" fontAlgn="t">
                        <a:buNone/>
                      </a:pPr>
                      <a:r>
                        <a:rPr lang="en-IN" sz="1000" b="0" i="0" u="none" strike="noStrike">
                          <a:solidFill>
                            <a:srgbClr val="0000FF"/>
                          </a:solidFill>
                          <a:effectLst/>
                          <a:latin typeface="Google Sans Text"/>
                        </a:rPr>
                        <a:t>Alignment of multiple textual assertions with an image, using a VQA model.</a:t>
                      </a:r>
                      <a:endParaRPr lang="en-IN" sz="1900" b="0" i="0" u="none" strike="noStrike">
                        <a:effectLst/>
                        <a:latin typeface="Arial" panose="020B0604020202020204" pitchFamily="34" charset="0"/>
                      </a:endParaRPr>
                    </a:p>
                  </a:txBody>
                  <a:tcPr marL="119449" marR="119449" marT="79633" marB="79633">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8FAFD"/>
                    </a:solidFill>
                  </a:tcPr>
                </a:tc>
                <a:tc>
                  <a:txBody>
                    <a:bodyPr/>
                    <a:lstStyle/>
                    <a:p>
                      <a:pPr algn="l" rtl="0" fontAlgn="t">
                        <a:buNone/>
                      </a:pPr>
                      <a:r>
                        <a:rPr lang="en-IN" sz="1000" b="0" i="0" u="none" strike="noStrike">
                          <a:solidFill>
                            <a:srgbClr val="1B1C1D"/>
                          </a:solidFill>
                          <a:effectLst/>
                          <a:latin typeface="Google Sans Text"/>
                        </a:rPr>
                        <a:t>Image-Text Alignment</a:t>
                      </a:r>
                      <a:endParaRPr lang="en-IN" sz="1900" b="0" i="0" u="none" strike="noStrike">
                        <a:effectLst/>
                        <a:latin typeface="Arial" panose="020B0604020202020204" pitchFamily="34" charset="0"/>
                      </a:endParaRPr>
                    </a:p>
                  </a:txBody>
                  <a:tcPr marL="119449" marR="119449" marT="79633" marB="79633">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8FAFD"/>
                    </a:solidFill>
                  </a:tcPr>
                </a:tc>
                <a:tc>
                  <a:txBody>
                    <a:bodyPr/>
                    <a:lstStyle/>
                    <a:p>
                      <a:pPr algn="l" rtl="0" fontAlgn="t">
                        <a:buNone/>
                      </a:pPr>
                      <a:r>
                        <a:rPr lang="en-IN" sz="1000" b="0" i="0" u="none" strike="noStrike">
                          <a:solidFill>
                            <a:srgbClr val="1B1C1D"/>
                          </a:solidFill>
                          <a:effectLst/>
                          <a:latin typeface="Google Sans Text"/>
                        </a:rPr>
                        <a:t>More robust for complex prompts/images than standard CLIP Score. Can verify multiple attributes.</a:t>
                      </a:r>
                      <a:endParaRPr lang="en-IN" sz="1900" b="0" i="0" u="none" strike="noStrike">
                        <a:effectLst/>
                        <a:latin typeface="Arial" panose="020B0604020202020204" pitchFamily="34" charset="0"/>
                      </a:endParaRPr>
                    </a:p>
                  </a:txBody>
                  <a:tcPr marL="119449" marR="119449" marT="79633" marB="79633">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8FAFD"/>
                    </a:solidFill>
                  </a:tcPr>
                </a:tc>
                <a:tc>
                  <a:txBody>
                    <a:bodyPr/>
                    <a:lstStyle/>
                    <a:p>
                      <a:pPr algn="l" rtl="0" fontAlgn="t">
                        <a:buNone/>
                      </a:pPr>
                      <a:r>
                        <a:rPr lang="en-IN" sz="1000" b="0" i="0" u="none" strike="noStrike">
                          <a:solidFill>
                            <a:srgbClr val="1B1C1D"/>
                          </a:solidFill>
                          <a:effectLst/>
                          <a:latin typeface="Google Sans Text"/>
                        </a:rPr>
                        <a:t>More complex to implement than CLIP Score. Still focused on descriptive accuracy, not creative quality.</a:t>
                      </a:r>
                      <a:endParaRPr lang="en-IN" sz="1900" b="0" i="0" u="none" strike="noStrike">
                        <a:effectLst/>
                        <a:latin typeface="Arial" panose="020B0604020202020204" pitchFamily="34" charset="0"/>
                      </a:endParaRPr>
                    </a:p>
                  </a:txBody>
                  <a:tcPr marL="119449" marR="119449" marT="79633" marB="79633">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8FAFD"/>
                    </a:solidFill>
                  </a:tcPr>
                </a:tc>
                <a:tc>
                  <a:txBody>
                    <a:bodyPr/>
                    <a:lstStyle/>
                    <a:p>
                      <a:pPr algn="l" rtl="0" fontAlgn="t">
                        <a:buNone/>
                      </a:pPr>
                      <a:r>
                        <a:rPr lang="en-IN" sz="1000" b="1" i="0" u="none" strike="noStrike">
                          <a:solidFill>
                            <a:srgbClr val="1B1C1D"/>
                          </a:solidFill>
                          <a:effectLst/>
                          <a:latin typeface="Google Sans Text"/>
                        </a:rPr>
                        <a:t>Medium.</a:t>
                      </a:r>
                      <a:r>
                        <a:rPr lang="en-IN" sz="1000" b="0" i="0" u="none" strike="noStrike">
                          <a:solidFill>
                            <a:srgbClr val="0000FF"/>
                          </a:solidFill>
                          <a:effectLst/>
                          <a:latin typeface="Google Sans Text"/>
                        </a:rPr>
                        <a:t> A better approach than CLIP Score</a:t>
                      </a:r>
                      <a:r>
                        <a:rPr lang="en-IN" sz="1000" b="0" i="0" u="none" strike="noStrike">
                          <a:solidFill>
                            <a:srgbClr val="1B1C1D"/>
                          </a:solidFill>
                          <a:effectLst/>
                          <a:latin typeface="Google Sans Text"/>
                        </a:rPr>
                        <a:t> for relevance if profiles are expected to capture multiple specific visual details, but still doesn't address persona or engagement.</a:t>
                      </a:r>
                      <a:endParaRPr lang="en-IN" sz="1900" b="0" i="0" u="none" strike="noStrike">
                        <a:effectLst/>
                        <a:latin typeface="Arial" panose="020B0604020202020204" pitchFamily="34" charset="0"/>
                      </a:endParaRPr>
                    </a:p>
                  </a:txBody>
                  <a:tcPr marL="119449" marR="119449" marT="79633" marB="79633">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8FAFD"/>
                    </a:solidFill>
                  </a:tcPr>
                </a:tc>
                <a:extLst>
                  <a:ext uri="{0D108BD9-81ED-4DB2-BD59-A6C34878D82A}">
                    <a16:rowId xmlns:a16="http://schemas.microsoft.com/office/drawing/2014/main" val="2374106335"/>
                  </a:ext>
                </a:extLst>
              </a:tr>
              <a:tr h="834554">
                <a:tc>
                  <a:txBody>
                    <a:bodyPr/>
                    <a:lstStyle/>
                    <a:p>
                      <a:pPr algn="l" rtl="0" fontAlgn="t">
                        <a:buNone/>
                      </a:pPr>
                      <a:r>
                        <a:rPr lang="en-IN" sz="1000" b="1" i="0" u="none" strike="noStrike">
                          <a:solidFill>
                            <a:srgbClr val="1B1C1D"/>
                          </a:solidFill>
                          <a:effectLst/>
                          <a:latin typeface="Google Sans Text"/>
                        </a:rPr>
                        <a:t>BLEU</a:t>
                      </a:r>
                      <a:endParaRPr lang="en-IN" sz="1900" b="0" i="0" u="none" strike="noStrike">
                        <a:effectLst/>
                        <a:latin typeface="Arial" panose="020B0604020202020204" pitchFamily="34" charset="0"/>
                      </a:endParaRPr>
                    </a:p>
                  </a:txBody>
                  <a:tcPr marL="119449" marR="119449" marT="79633" marB="79633">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8FAFD"/>
                    </a:solidFill>
                  </a:tcPr>
                </a:tc>
                <a:tc>
                  <a:txBody>
                    <a:bodyPr/>
                    <a:lstStyle/>
                    <a:p>
                      <a:pPr algn="l" rtl="0" fontAlgn="t">
                        <a:buNone/>
                      </a:pPr>
                      <a:r>
                        <a:rPr lang="en-IN" sz="1000" b="0" i="0" u="none" strike="noStrike">
                          <a:solidFill>
                            <a:srgbClr val="0000FF"/>
                          </a:solidFill>
                          <a:effectLst/>
                          <a:latin typeface="Google Sans Text"/>
                        </a:rPr>
                        <a:t>N-gram precision of generated text against reference texts.</a:t>
                      </a:r>
                      <a:endParaRPr lang="en-IN" sz="1900" b="0" i="0" u="none" strike="noStrike">
                        <a:effectLst/>
                        <a:latin typeface="Arial" panose="020B0604020202020204" pitchFamily="34" charset="0"/>
                      </a:endParaRPr>
                    </a:p>
                  </a:txBody>
                  <a:tcPr marL="119449" marR="119449" marT="79633" marB="79633">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8FAFD"/>
                    </a:solidFill>
                  </a:tcPr>
                </a:tc>
                <a:tc>
                  <a:txBody>
                    <a:bodyPr/>
                    <a:lstStyle/>
                    <a:p>
                      <a:pPr algn="l" rtl="0" fontAlgn="t">
                        <a:buNone/>
                      </a:pPr>
                      <a:r>
                        <a:rPr lang="en-IN" sz="1000" b="0" i="0" u="none" strike="noStrike">
                          <a:solidFill>
                            <a:srgbClr val="1B1C1D"/>
                          </a:solidFill>
                          <a:effectLst/>
                          <a:latin typeface="Google Sans Text"/>
                        </a:rPr>
                        <a:t>N-gram Overlap (Reference-Based)</a:t>
                      </a:r>
                      <a:endParaRPr lang="en-IN" sz="1900" b="0" i="0" u="none" strike="noStrike">
                        <a:effectLst/>
                        <a:latin typeface="Arial" panose="020B0604020202020204" pitchFamily="34" charset="0"/>
                      </a:endParaRPr>
                    </a:p>
                  </a:txBody>
                  <a:tcPr marL="119449" marR="119449" marT="79633" marB="79633">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8FAFD"/>
                    </a:solidFill>
                  </a:tcPr>
                </a:tc>
                <a:tc>
                  <a:txBody>
                    <a:bodyPr/>
                    <a:lstStyle/>
                    <a:p>
                      <a:pPr algn="l" rtl="0" fontAlgn="t">
                        <a:buNone/>
                      </a:pPr>
                      <a:r>
                        <a:rPr lang="en-IN" sz="1000" b="0" i="0" u="none" strike="noStrike">
                          <a:solidFill>
                            <a:srgbClr val="1B1C1D"/>
                          </a:solidFill>
                          <a:effectLst/>
                          <a:latin typeface="Google Sans Text"/>
                        </a:rPr>
                        <a:t>Fast, simple to calculate, widely understood.</a:t>
                      </a:r>
                      <a:endParaRPr lang="en-IN" sz="1900" b="0" i="0" u="none" strike="noStrike">
                        <a:effectLst/>
                        <a:latin typeface="Arial" panose="020B0604020202020204" pitchFamily="34" charset="0"/>
                      </a:endParaRPr>
                    </a:p>
                  </a:txBody>
                  <a:tcPr marL="119449" marR="119449" marT="79633" marB="79633">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8FAFD"/>
                    </a:solidFill>
                  </a:tcPr>
                </a:tc>
                <a:tc>
                  <a:txBody>
                    <a:bodyPr/>
                    <a:lstStyle/>
                    <a:p>
                      <a:pPr algn="l" rtl="0" fontAlgn="t">
                        <a:buNone/>
                      </a:pPr>
                      <a:r>
                        <a:rPr lang="en-IN" sz="1000" b="0" i="0" u="none" strike="noStrike">
                          <a:solidFill>
                            <a:srgbClr val="FF0000"/>
                          </a:solidFill>
                          <a:effectLst/>
                          <a:latin typeface="Google Sans Text"/>
                        </a:rPr>
                        <a:t>Requires reference texts. </a:t>
                      </a:r>
                      <a:r>
                        <a:rPr lang="en-IN" sz="1000" b="0" i="0" u="none" strike="noStrike">
                          <a:solidFill>
                            <a:srgbClr val="1B1C1D"/>
                          </a:solidFill>
                          <a:effectLst/>
                          <a:latin typeface="Google Sans Text"/>
                        </a:rPr>
                        <a:t>Penalizes creativity and valid paraphrasing. Focuses on surface-level similarity, not meaning or quality.</a:t>
                      </a:r>
                      <a:endParaRPr lang="en-IN" sz="1900" b="0" i="0" u="none" strike="noStrike">
                        <a:effectLst/>
                        <a:latin typeface="Arial" panose="020B0604020202020204" pitchFamily="34" charset="0"/>
                      </a:endParaRPr>
                    </a:p>
                  </a:txBody>
                  <a:tcPr marL="119449" marR="119449" marT="79633" marB="79633">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8FAFD"/>
                    </a:solidFill>
                  </a:tcPr>
                </a:tc>
                <a:tc>
                  <a:txBody>
                    <a:bodyPr/>
                    <a:lstStyle/>
                    <a:p>
                      <a:pPr algn="l" rtl="0" fontAlgn="t">
                        <a:buNone/>
                      </a:pPr>
                      <a:r>
                        <a:rPr lang="en-IN" sz="1000" b="1" i="0" u="none" strike="noStrike" dirty="0">
                          <a:solidFill>
                            <a:srgbClr val="1B1C1D"/>
                          </a:solidFill>
                          <a:effectLst/>
                          <a:latin typeface="Google Sans Text"/>
                        </a:rPr>
                        <a:t>Low.</a:t>
                      </a:r>
                      <a:r>
                        <a:rPr lang="en-IN" sz="1000" b="0" i="0" u="none" strike="noStrike" dirty="0">
                          <a:solidFill>
                            <a:srgbClr val="1B1C1D"/>
                          </a:solidFill>
                          <a:effectLst/>
                          <a:latin typeface="Google Sans Text"/>
                        </a:rPr>
                        <a:t> Fundamentally unsuited for creative, open-ended tasks. Using it would optimize the model for being generic and unoriginal.</a:t>
                      </a:r>
                      <a:endParaRPr lang="en-IN" sz="1900" b="0" i="0" u="none" strike="noStrike" dirty="0">
                        <a:effectLst/>
                        <a:latin typeface="Arial" panose="020B0604020202020204" pitchFamily="34" charset="0"/>
                      </a:endParaRPr>
                    </a:p>
                  </a:txBody>
                  <a:tcPr marL="119449" marR="119449" marT="79633" marB="79633">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8FAFD"/>
                    </a:solidFill>
                  </a:tcPr>
                </a:tc>
                <a:extLst>
                  <a:ext uri="{0D108BD9-81ED-4DB2-BD59-A6C34878D82A}">
                    <a16:rowId xmlns:a16="http://schemas.microsoft.com/office/drawing/2014/main" val="1184790597"/>
                  </a:ext>
                </a:extLst>
              </a:tr>
              <a:tr h="834554">
                <a:tc>
                  <a:txBody>
                    <a:bodyPr/>
                    <a:lstStyle/>
                    <a:p>
                      <a:pPr algn="l" rtl="0" fontAlgn="t">
                        <a:buNone/>
                      </a:pPr>
                      <a:r>
                        <a:rPr lang="en-IN" sz="1000" b="1" i="0" u="none" strike="noStrike">
                          <a:solidFill>
                            <a:srgbClr val="1B1C1D"/>
                          </a:solidFill>
                          <a:effectLst/>
                          <a:latin typeface="Google Sans Text"/>
                        </a:rPr>
                        <a:t>ROUGE</a:t>
                      </a:r>
                      <a:endParaRPr lang="en-IN" sz="1900" b="0" i="0" u="none" strike="noStrike">
                        <a:effectLst/>
                        <a:latin typeface="Arial" panose="020B0604020202020204" pitchFamily="34" charset="0"/>
                      </a:endParaRPr>
                    </a:p>
                  </a:txBody>
                  <a:tcPr marL="119449" marR="119449" marT="79633" marB="79633">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8FAFD"/>
                    </a:solidFill>
                  </a:tcPr>
                </a:tc>
                <a:tc>
                  <a:txBody>
                    <a:bodyPr/>
                    <a:lstStyle/>
                    <a:p>
                      <a:pPr algn="l" rtl="0" fontAlgn="t">
                        <a:buNone/>
                      </a:pPr>
                      <a:r>
                        <a:rPr lang="en-IN" sz="1000" b="0" i="0" u="none" strike="noStrike">
                          <a:solidFill>
                            <a:srgbClr val="1B1C1D"/>
                          </a:solidFill>
                          <a:effectLst/>
                          <a:latin typeface="Google Sans Text"/>
                        </a:rPr>
                        <a:t>N-gram recall of generated text against reference texts.</a:t>
                      </a:r>
                      <a:endParaRPr lang="en-IN" sz="1900" b="0" i="0" u="none" strike="noStrike">
                        <a:effectLst/>
                        <a:latin typeface="Arial" panose="020B0604020202020204" pitchFamily="34" charset="0"/>
                      </a:endParaRPr>
                    </a:p>
                  </a:txBody>
                  <a:tcPr marL="119449" marR="119449" marT="79633" marB="79633">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8FAFD"/>
                    </a:solidFill>
                  </a:tcPr>
                </a:tc>
                <a:tc>
                  <a:txBody>
                    <a:bodyPr/>
                    <a:lstStyle/>
                    <a:p>
                      <a:pPr algn="l" rtl="0" fontAlgn="t">
                        <a:buNone/>
                      </a:pPr>
                      <a:r>
                        <a:rPr lang="en-IN" sz="1000" b="0" i="0" u="none" strike="noStrike">
                          <a:solidFill>
                            <a:srgbClr val="1B1C1D"/>
                          </a:solidFill>
                          <a:effectLst/>
                          <a:latin typeface="Google Sans Text"/>
                        </a:rPr>
                        <a:t>N-gram Overlap (Reference-Based)</a:t>
                      </a:r>
                      <a:endParaRPr lang="en-IN" sz="1900" b="0" i="0" u="none" strike="noStrike">
                        <a:effectLst/>
                        <a:latin typeface="Arial" panose="020B0604020202020204" pitchFamily="34" charset="0"/>
                      </a:endParaRPr>
                    </a:p>
                  </a:txBody>
                  <a:tcPr marL="119449" marR="119449" marT="79633" marB="79633">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8FAFD"/>
                    </a:solidFill>
                  </a:tcPr>
                </a:tc>
                <a:tc>
                  <a:txBody>
                    <a:bodyPr/>
                    <a:lstStyle/>
                    <a:p>
                      <a:pPr algn="l" rtl="0" fontAlgn="t">
                        <a:buNone/>
                      </a:pPr>
                      <a:r>
                        <a:rPr lang="en-IN" sz="1000" b="0" i="0" u="none" strike="noStrike">
                          <a:solidFill>
                            <a:srgbClr val="1B1C1D"/>
                          </a:solidFill>
                          <a:effectLst/>
                          <a:latin typeface="Google Sans Text"/>
                        </a:rPr>
                        <a:t>Fast, simple to calculate. Focus on recall can be useful for summarization tasks.</a:t>
                      </a:r>
                      <a:endParaRPr lang="en-IN" sz="1900" b="0" i="0" u="none" strike="noStrike">
                        <a:effectLst/>
                        <a:latin typeface="Arial" panose="020B0604020202020204" pitchFamily="34" charset="0"/>
                      </a:endParaRPr>
                    </a:p>
                  </a:txBody>
                  <a:tcPr marL="119449" marR="119449" marT="79633" marB="79633">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8FAFD"/>
                    </a:solidFill>
                  </a:tcPr>
                </a:tc>
                <a:tc>
                  <a:txBody>
                    <a:bodyPr/>
                    <a:lstStyle/>
                    <a:p>
                      <a:pPr algn="l" rtl="0" fontAlgn="t">
                        <a:buNone/>
                      </a:pPr>
                      <a:r>
                        <a:rPr lang="en-IN" sz="1000" b="0" i="0" u="none" strike="noStrike">
                          <a:solidFill>
                            <a:srgbClr val="FF0000"/>
                          </a:solidFill>
                          <a:effectLst/>
                          <a:latin typeface="Google Sans Text"/>
                        </a:rPr>
                        <a:t>Requires reference texts.</a:t>
                      </a:r>
                      <a:r>
                        <a:rPr lang="en-IN" sz="1000" b="0" i="0" u="none" strike="noStrike">
                          <a:solidFill>
                            <a:srgbClr val="1B1C1D"/>
                          </a:solidFill>
                          <a:effectLst/>
                          <a:latin typeface="Google Sans Text"/>
                        </a:rPr>
                        <a:t> Shares all the core limitations of BLEU regarding creativity and semantic understanding.</a:t>
                      </a:r>
                      <a:endParaRPr lang="en-IN" sz="1900" b="0" i="0" u="none" strike="noStrike">
                        <a:effectLst/>
                        <a:latin typeface="Arial" panose="020B0604020202020204" pitchFamily="34" charset="0"/>
                      </a:endParaRPr>
                    </a:p>
                  </a:txBody>
                  <a:tcPr marL="119449" marR="119449" marT="79633" marB="79633">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8FAFD"/>
                    </a:solidFill>
                  </a:tcPr>
                </a:tc>
                <a:tc>
                  <a:txBody>
                    <a:bodyPr/>
                    <a:lstStyle/>
                    <a:p>
                      <a:pPr algn="l" rtl="0" fontAlgn="t">
                        <a:buNone/>
                      </a:pPr>
                      <a:r>
                        <a:rPr lang="en-IN" sz="1000" b="1" i="0" u="none" strike="noStrike">
                          <a:solidFill>
                            <a:srgbClr val="1B1C1D"/>
                          </a:solidFill>
                          <a:effectLst/>
                          <a:latin typeface="Google Sans Text"/>
                        </a:rPr>
                        <a:t>Low.</a:t>
                      </a:r>
                      <a:r>
                        <a:rPr lang="en-IN" sz="1000" b="0" i="0" u="none" strike="noStrike">
                          <a:solidFill>
                            <a:srgbClr val="1B1C1D"/>
                          </a:solidFill>
                          <a:effectLst/>
                          <a:latin typeface="Google Sans Text"/>
                        </a:rPr>
                        <a:t> Like BLEU, it is conceptually mismatched with the goal of generating novel and engaging content.</a:t>
                      </a:r>
                      <a:endParaRPr lang="en-IN" sz="1900" b="0" i="0" u="none" strike="noStrike">
                        <a:effectLst/>
                        <a:latin typeface="Arial" panose="020B0604020202020204" pitchFamily="34" charset="0"/>
                      </a:endParaRPr>
                    </a:p>
                  </a:txBody>
                  <a:tcPr marL="119449" marR="119449" marT="79633" marB="79633">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8FAFD"/>
                    </a:solidFill>
                  </a:tcPr>
                </a:tc>
                <a:extLst>
                  <a:ext uri="{0D108BD9-81ED-4DB2-BD59-A6C34878D82A}">
                    <a16:rowId xmlns:a16="http://schemas.microsoft.com/office/drawing/2014/main" val="2387732851"/>
                  </a:ext>
                </a:extLst>
              </a:tr>
              <a:tr h="834554">
                <a:tc>
                  <a:txBody>
                    <a:bodyPr/>
                    <a:lstStyle/>
                    <a:p>
                      <a:pPr algn="l" rtl="0" fontAlgn="t">
                        <a:buNone/>
                      </a:pPr>
                      <a:r>
                        <a:rPr lang="en-IN" sz="1000" b="1" i="0" u="none" strike="noStrike">
                          <a:solidFill>
                            <a:srgbClr val="1B1C1D"/>
                          </a:solidFill>
                          <a:effectLst/>
                          <a:latin typeface="Google Sans Text"/>
                        </a:rPr>
                        <a:t>CIDEr</a:t>
                      </a:r>
                      <a:endParaRPr lang="en-IN" sz="1900" b="0" i="0" u="none" strike="noStrike">
                        <a:effectLst/>
                        <a:latin typeface="Arial" panose="020B0604020202020204" pitchFamily="34" charset="0"/>
                      </a:endParaRPr>
                    </a:p>
                  </a:txBody>
                  <a:tcPr marL="119449" marR="119449" marT="79633" marB="79633">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8FAFD"/>
                    </a:solidFill>
                  </a:tcPr>
                </a:tc>
                <a:tc>
                  <a:txBody>
                    <a:bodyPr/>
                    <a:lstStyle/>
                    <a:p>
                      <a:pPr algn="l" rtl="0" fontAlgn="t">
                        <a:buNone/>
                      </a:pPr>
                      <a:r>
                        <a:rPr lang="en-IN" sz="1000" b="0" i="0" u="none" strike="noStrike">
                          <a:solidFill>
                            <a:srgbClr val="1B1C1D"/>
                          </a:solidFill>
                          <a:effectLst/>
                          <a:latin typeface="Google Sans Text"/>
                        </a:rPr>
                        <a:t>Consensus-based, TF-IDF weighted n-gram similarity against reference texts.</a:t>
                      </a:r>
                      <a:endParaRPr lang="en-IN" sz="1900" b="0" i="0" u="none" strike="noStrike">
                        <a:effectLst/>
                        <a:latin typeface="Arial" panose="020B0604020202020204" pitchFamily="34" charset="0"/>
                      </a:endParaRPr>
                    </a:p>
                  </a:txBody>
                  <a:tcPr marL="119449" marR="119449" marT="79633" marB="79633">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8FAFD"/>
                    </a:solidFill>
                  </a:tcPr>
                </a:tc>
                <a:tc>
                  <a:txBody>
                    <a:bodyPr/>
                    <a:lstStyle/>
                    <a:p>
                      <a:pPr algn="l" rtl="0" fontAlgn="t">
                        <a:buNone/>
                      </a:pPr>
                      <a:r>
                        <a:rPr lang="en-IN" sz="1000" b="0" i="0" u="none" strike="noStrike">
                          <a:solidFill>
                            <a:srgbClr val="1B1C1D"/>
                          </a:solidFill>
                          <a:effectLst/>
                          <a:latin typeface="Google Sans Text"/>
                        </a:rPr>
                        <a:t>N-gram Overlap (Reference-Based)</a:t>
                      </a:r>
                      <a:endParaRPr lang="en-IN" sz="1900" b="0" i="0" u="none" strike="noStrike">
                        <a:effectLst/>
                        <a:latin typeface="Arial" panose="020B0604020202020204" pitchFamily="34" charset="0"/>
                      </a:endParaRPr>
                    </a:p>
                  </a:txBody>
                  <a:tcPr marL="119449" marR="119449" marT="79633" marB="79633">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8FAFD"/>
                    </a:solidFill>
                  </a:tcPr>
                </a:tc>
                <a:tc>
                  <a:txBody>
                    <a:bodyPr/>
                    <a:lstStyle/>
                    <a:p>
                      <a:pPr algn="l" rtl="0" fontAlgn="t">
                        <a:buNone/>
                      </a:pPr>
                      <a:r>
                        <a:rPr lang="en-IN" sz="1000" b="0" i="0" u="none" strike="noStrike">
                          <a:solidFill>
                            <a:srgbClr val="1B1C1D"/>
                          </a:solidFill>
                          <a:effectLst/>
                          <a:latin typeface="Google Sans Text"/>
                        </a:rPr>
                        <a:t>Designed for image captioning, so it's more semantically aware than BLEU/ROUGE.</a:t>
                      </a:r>
                      <a:endParaRPr lang="en-IN" sz="1900" b="0" i="0" u="none" strike="noStrike">
                        <a:effectLst/>
                        <a:latin typeface="Arial" panose="020B0604020202020204" pitchFamily="34" charset="0"/>
                      </a:endParaRPr>
                    </a:p>
                  </a:txBody>
                  <a:tcPr marL="119449" marR="119449" marT="79633" marB="79633">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8FAFD"/>
                    </a:solidFill>
                  </a:tcPr>
                </a:tc>
                <a:tc>
                  <a:txBody>
                    <a:bodyPr/>
                    <a:lstStyle/>
                    <a:p>
                      <a:pPr algn="l" rtl="0" fontAlgn="t">
                        <a:buNone/>
                      </a:pPr>
                      <a:r>
                        <a:rPr lang="en-IN" sz="1000" b="0" i="0" u="none" strike="noStrike">
                          <a:solidFill>
                            <a:srgbClr val="1B1C1D"/>
                          </a:solidFill>
                          <a:effectLst/>
                          <a:latin typeface="Google Sans Text"/>
                        </a:rPr>
                        <a:t>Still </a:t>
                      </a:r>
                      <a:r>
                        <a:rPr lang="en-IN" sz="1000" b="0" i="0" u="none" strike="noStrike">
                          <a:solidFill>
                            <a:srgbClr val="FF0000"/>
                          </a:solidFill>
                          <a:effectLst/>
                          <a:latin typeface="Google Sans Text"/>
                        </a:rPr>
                        <a:t>requires a large set of diverse reference captions </a:t>
                      </a:r>
                      <a:r>
                        <a:rPr lang="en-IN" sz="1000" b="0" i="0" u="none" strike="noStrike">
                          <a:solidFill>
                            <a:srgbClr val="1B1C1D"/>
                          </a:solidFill>
                          <a:effectLst/>
                          <a:latin typeface="Google Sans Text"/>
                        </a:rPr>
                        <a:t>to be effective. Highly sensitive to reference text quality. Penalizes novel phrasing.</a:t>
                      </a:r>
                      <a:endParaRPr lang="en-IN" sz="1900" b="0" i="0" u="none" strike="noStrike">
                        <a:effectLst/>
                        <a:latin typeface="Arial" panose="020B0604020202020204" pitchFamily="34" charset="0"/>
                      </a:endParaRPr>
                    </a:p>
                  </a:txBody>
                  <a:tcPr marL="119449" marR="119449" marT="79633" marB="79633">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8FAFD"/>
                    </a:solidFill>
                  </a:tcPr>
                </a:tc>
                <a:tc>
                  <a:txBody>
                    <a:bodyPr/>
                    <a:lstStyle/>
                    <a:p>
                      <a:pPr algn="l" rtl="0" fontAlgn="t">
                        <a:buNone/>
                      </a:pPr>
                      <a:r>
                        <a:rPr lang="en-IN" sz="1000" b="1" i="0" u="none" strike="noStrike" dirty="0">
                          <a:solidFill>
                            <a:srgbClr val="1B1C1D"/>
                          </a:solidFill>
                          <a:effectLst/>
                          <a:latin typeface="Google Sans Text"/>
                        </a:rPr>
                        <a:t>Low.</a:t>
                      </a:r>
                      <a:r>
                        <a:rPr lang="en-IN" sz="1000" b="0" i="0" u="none" strike="noStrike" dirty="0">
                          <a:solidFill>
                            <a:srgbClr val="1B1C1D"/>
                          </a:solidFill>
                          <a:effectLst/>
                          <a:latin typeface="Google Sans Text"/>
                        </a:rPr>
                        <a:t> While better than BLEU/ROUGE for descriptive tasks, it still suffers from the fundamental reference-based problem and cannot evaluate the creative aspects of a persona.</a:t>
                      </a:r>
                      <a:endParaRPr lang="en-IN" sz="1900" b="0" i="0" u="none" strike="noStrike" dirty="0">
                        <a:effectLst/>
                        <a:latin typeface="Arial" panose="020B0604020202020204" pitchFamily="34" charset="0"/>
                      </a:endParaRPr>
                    </a:p>
                  </a:txBody>
                  <a:tcPr marL="119449" marR="119449" marT="79633" marB="79633">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8FAFD"/>
                    </a:solidFill>
                  </a:tcPr>
                </a:tc>
                <a:extLst>
                  <a:ext uri="{0D108BD9-81ED-4DB2-BD59-A6C34878D82A}">
                    <a16:rowId xmlns:a16="http://schemas.microsoft.com/office/drawing/2014/main" val="301687377"/>
                  </a:ext>
                </a:extLst>
              </a:tr>
            </a:tbl>
          </a:graphicData>
        </a:graphic>
      </p:graphicFrame>
      <p:sp>
        <p:nvSpPr>
          <p:cNvPr id="8" name="TextBox 7">
            <a:extLst>
              <a:ext uri="{FF2B5EF4-FFF2-40B4-BE49-F238E27FC236}">
                <a16:creationId xmlns:a16="http://schemas.microsoft.com/office/drawing/2014/main" id="{68DA4C8B-2A6F-CAAE-184B-23E84029A6B4}"/>
              </a:ext>
            </a:extLst>
          </p:cNvPr>
          <p:cNvSpPr txBox="1"/>
          <p:nvPr/>
        </p:nvSpPr>
        <p:spPr>
          <a:xfrm>
            <a:off x="2266014" y="519092"/>
            <a:ext cx="8674100" cy="1077218"/>
          </a:xfrm>
          <a:prstGeom prst="rect">
            <a:avLst/>
          </a:prstGeom>
          <a:noFill/>
        </p:spPr>
        <p:txBody>
          <a:bodyPr wrap="square">
            <a:spAutoFit/>
          </a:bodyPr>
          <a:lstStyle/>
          <a:p>
            <a:pPr rtl="0">
              <a:spcBef>
                <a:spcPts val="600"/>
              </a:spcBef>
              <a:spcAft>
                <a:spcPts val="1200"/>
              </a:spcAft>
              <a:buNone/>
            </a:pPr>
            <a:r>
              <a:rPr lang="en-IN" sz="1800" b="1" i="0" u="none" strike="noStrike" dirty="0">
                <a:solidFill>
                  <a:srgbClr val="1B1C1D"/>
                </a:solidFill>
                <a:effectLst/>
                <a:latin typeface="Google Sans Text"/>
              </a:rPr>
              <a:t>Table 1: Comparison of Automated Evaluation Metrics for Gaming Profiles</a:t>
            </a:r>
            <a:endParaRPr lang="en-IN" b="0" dirty="0">
              <a:effectLst/>
            </a:endParaRPr>
          </a:p>
          <a:p>
            <a:pPr>
              <a:buNone/>
            </a:pPr>
            <a:br>
              <a:rPr lang="en-IN" dirty="0"/>
            </a:br>
            <a:endParaRPr lang="en-US" dirty="0"/>
          </a:p>
        </p:txBody>
      </p:sp>
    </p:spTree>
    <p:extLst>
      <p:ext uri="{BB962C8B-B14F-4D97-AF65-F5344CB8AC3E}">
        <p14:creationId xmlns:p14="http://schemas.microsoft.com/office/powerpoint/2010/main" val="153888613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F3060C83-F051-4F0E-ABAD-AA0DFC48B2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Freeform: Shape 11">
            <a:extLst>
              <a:ext uri="{FF2B5EF4-FFF2-40B4-BE49-F238E27FC236}">
                <a16:creationId xmlns:a16="http://schemas.microsoft.com/office/drawing/2014/main" id="{83C98ABE-055B-441F-B07E-44F97F083C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376156" y="-253670"/>
            <a:ext cx="1827638" cy="1376989"/>
          </a:xfrm>
          <a:custGeom>
            <a:avLst/>
            <a:gdLst>
              <a:gd name="connsiteX0" fmla="*/ 0 w 1827638"/>
              <a:gd name="connsiteY0" fmla="*/ 987379 h 1376989"/>
              <a:gd name="connsiteX1" fmla="*/ 987379 w 1827638"/>
              <a:gd name="connsiteY1" fmla="*/ 0 h 1376989"/>
              <a:gd name="connsiteX2" fmla="*/ 1827638 w 1827638"/>
              <a:gd name="connsiteY2" fmla="*/ 840260 h 1376989"/>
              <a:gd name="connsiteX3" fmla="*/ 1827638 w 1827638"/>
              <a:gd name="connsiteY3" fmla="*/ 1376989 h 1376989"/>
              <a:gd name="connsiteX4" fmla="*/ 0 w 1827638"/>
              <a:gd name="connsiteY4" fmla="*/ 1376989 h 13769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7638" h="1376989">
                <a:moveTo>
                  <a:pt x="0" y="987379"/>
                </a:moveTo>
                <a:lnTo>
                  <a:pt x="987379" y="0"/>
                </a:lnTo>
                <a:lnTo>
                  <a:pt x="1827638" y="840260"/>
                </a:lnTo>
                <a:lnTo>
                  <a:pt x="1827638" y="1376989"/>
                </a:lnTo>
                <a:lnTo>
                  <a:pt x="0" y="1376989"/>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Rectangle 13">
            <a:extLst>
              <a:ext uri="{FF2B5EF4-FFF2-40B4-BE49-F238E27FC236}">
                <a16:creationId xmlns:a16="http://schemas.microsoft.com/office/drawing/2014/main" id="{29FDB030-9B49-4CED-8CCD-4D99382388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891641" y="422146"/>
            <a:ext cx="645368" cy="64536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3783CA14-24A1-485C-8B30-D6A5D87987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10043482" y="655140"/>
            <a:ext cx="687472" cy="687472"/>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Freeform: Shape 17">
            <a:extLst>
              <a:ext uri="{FF2B5EF4-FFF2-40B4-BE49-F238E27FC236}">
                <a16:creationId xmlns:a16="http://schemas.microsoft.com/office/drawing/2014/main" id="{9A97C86A-04D6-40F7-AE84-31AB43E6A8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9356643" y="0"/>
            <a:ext cx="2835357" cy="1480837"/>
          </a:xfrm>
          <a:custGeom>
            <a:avLst/>
            <a:gdLst>
              <a:gd name="connsiteX0" fmla="*/ 2835357 w 2835357"/>
              <a:gd name="connsiteY0" fmla="*/ 1480837 h 1480837"/>
              <a:gd name="connsiteX1" fmla="*/ 0 w 2835357"/>
              <a:gd name="connsiteY1" fmla="*/ 1480837 h 1480837"/>
              <a:gd name="connsiteX2" fmla="*/ 1552727 w 2835357"/>
              <a:gd name="connsiteY2" fmla="*/ 0 h 1480837"/>
              <a:gd name="connsiteX3" fmla="*/ 2835357 w 2835357"/>
              <a:gd name="connsiteY3" fmla="*/ 1223245 h 1480837"/>
            </a:gdLst>
            <a:ahLst/>
            <a:cxnLst>
              <a:cxn ang="0">
                <a:pos x="connsiteX0" y="connsiteY0"/>
              </a:cxn>
              <a:cxn ang="0">
                <a:pos x="connsiteX1" y="connsiteY1"/>
              </a:cxn>
              <a:cxn ang="0">
                <a:pos x="connsiteX2" y="connsiteY2"/>
              </a:cxn>
              <a:cxn ang="0">
                <a:pos x="connsiteX3" y="connsiteY3"/>
              </a:cxn>
            </a:cxnLst>
            <a:rect l="l" t="t" r="r" b="b"/>
            <a:pathLst>
              <a:path w="2835357" h="1480837">
                <a:moveTo>
                  <a:pt x="2835357" y="1480837"/>
                </a:moveTo>
                <a:lnTo>
                  <a:pt x="0" y="1480837"/>
                </a:lnTo>
                <a:lnTo>
                  <a:pt x="1552727" y="0"/>
                </a:lnTo>
                <a:lnTo>
                  <a:pt x="2835357" y="1223245"/>
                </a:ln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Isosceles Triangle 19">
            <a:extLst>
              <a:ext uri="{FF2B5EF4-FFF2-40B4-BE49-F238E27FC236}">
                <a16:creationId xmlns:a16="http://schemas.microsoft.com/office/drawing/2014/main" id="{FF9F2414-84E8-453E-B1F3-389FDE8192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976344" y="6115501"/>
            <a:ext cx="1494513" cy="742499"/>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Isosceles Triangle 21">
            <a:extLst>
              <a:ext uri="{FF2B5EF4-FFF2-40B4-BE49-F238E27FC236}">
                <a16:creationId xmlns:a16="http://schemas.microsoft.com/office/drawing/2014/main" id="{3ECA69A1-7536-43AC-85EF-C7106179F5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604080" y="6453143"/>
            <a:ext cx="814903" cy="404857"/>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4" name="Content Placeholder 3">
            <a:extLst>
              <a:ext uri="{FF2B5EF4-FFF2-40B4-BE49-F238E27FC236}">
                <a16:creationId xmlns:a16="http://schemas.microsoft.com/office/drawing/2014/main" id="{2D8360E1-B34D-A8FB-05D2-9701A8E83C89}"/>
              </a:ext>
            </a:extLst>
          </p:cNvPr>
          <p:cNvGraphicFramePr>
            <a:graphicFrameLocks noGrp="1"/>
          </p:cNvGraphicFramePr>
          <p:nvPr>
            <p:ph idx="1"/>
            <p:extLst>
              <p:ext uri="{D42A27DB-BD31-4B8C-83A1-F6EECF244321}">
                <p14:modId xmlns:p14="http://schemas.microsoft.com/office/powerpoint/2010/main" val="3430059543"/>
              </p:ext>
            </p:extLst>
          </p:nvPr>
        </p:nvGraphicFramePr>
        <p:xfrm>
          <a:off x="643467" y="1259699"/>
          <a:ext cx="10905068" cy="4460124"/>
        </p:xfrm>
        <a:graphic>
          <a:graphicData uri="http://schemas.openxmlformats.org/drawingml/2006/table">
            <a:tbl>
              <a:tblPr firstRow="1" bandRow="1"/>
              <a:tblGrid>
                <a:gridCol w="1414230">
                  <a:extLst>
                    <a:ext uri="{9D8B030D-6E8A-4147-A177-3AD203B41FA5}">
                      <a16:colId xmlns:a16="http://schemas.microsoft.com/office/drawing/2014/main" val="3499949264"/>
                    </a:ext>
                  </a:extLst>
                </a:gridCol>
                <a:gridCol w="2787927">
                  <a:extLst>
                    <a:ext uri="{9D8B030D-6E8A-4147-A177-3AD203B41FA5}">
                      <a16:colId xmlns:a16="http://schemas.microsoft.com/office/drawing/2014/main" val="4144859614"/>
                    </a:ext>
                  </a:extLst>
                </a:gridCol>
                <a:gridCol w="3321796">
                  <a:extLst>
                    <a:ext uri="{9D8B030D-6E8A-4147-A177-3AD203B41FA5}">
                      <a16:colId xmlns:a16="http://schemas.microsoft.com/office/drawing/2014/main" val="2739860103"/>
                    </a:ext>
                  </a:extLst>
                </a:gridCol>
                <a:gridCol w="3381115">
                  <a:extLst>
                    <a:ext uri="{9D8B030D-6E8A-4147-A177-3AD203B41FA5}">
                      <a16:colId xmlns:a16="http://schemas.microsoft.com/office/drawing/2014/main" val="2628815806"/>
                    </a:ext>
                  </a:extLst>
                </a:gridCol>
              </a:tblGrid>
              <a:tr h="259469">
                <a:tc>
                  <a:txBody>
                    <a:bodyPr/>
                    <a:lstStyle/>
                    <a:p>
                      <a:pPr rtl="0" fontAlgn="t">
                        <a:buNone/>
                      </a:pPr>
                      <a:r>
                        <a:rPr lang="en-IN" sz="1000" b="0" i="0" u="none" strike="noStrike">
                          <a:solidFill>
                            <a:srgbClr val="1B1C1D"/>
                          </a:solidFill>
                          <a:effectLst/>
                          <a:latin typeface="Google Sans Text"/>
                        </a:rPr>
                        <a:t>Strategy/Technique</a:t>
                      </a:r>
                      <a:endParaRPr lang="en-IN" sz="1800">
                        <a:effectLst/>
                      </a:endParaRPr>
                    </a:p>
                  </a:txBody>
                  <a:tcPr marL="55233" marR="55233" marT="36822" marB="3682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8FAFD"/>
                    </a:solidFill>
                  </a:tcPr>
                </a:tc>
                <a:tc>
                  <a:txBody>
                    <a:bodyPr/>
                    <a:lstStyle/>
                    <a:p>
                      <a:pPr rtl="0" fontAlgn="t">
                        <a:buNone/>
                      </a:pPr>
                      <a:r>
                        <a:rPr lang="en-IN" sz="1000" b="0" i="0" u="none" strike="noStrike">
                          <a:solidFill>
                            <a:srgbClr val="1B1C1D"/>
                          </a:solidFill>
                          <a:effectLst/>
                          <a:latin typeface="Google Sans Text"/>
                        </a:rPr>
                        <a:t>Description</a:t>
                      </a:r>
                      <a:endParaRPr lang="en-IN" sz="1800">
                        <a:effectLst/>
                      </a:endParaRPr>
                    </a:p>
                  </a:txBody>
                  <a:tcPr marL="55233" marR="55233" marT="36822" marB="3682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8FAFD"/>
                    </a:solidFill>
                  </a:tcPr>
                </a:tc>
                <a:tc>
                  <a:txBody>
                    <a:bodyPr/>
                    <a:lstStyle/>
                    <a:p>
                      <a:pPr rtl="0" fontAlgn="t">
                        <a:buNone/>
                      </a:pPr>
                      <a:r>
                        <a:rPr lang="en-IN" sz="1000" b="0" i="0" u="none" strike="noStrike">
                          <a:solidFill>
                            <a:srgbClr val="1B1C1D"/>
                          </a:solidFill>
                          <a:effectLst/>
                          <a:latin typeface="Google Sans Text"/>
                        </a:rPr>
                        <a:t>Example Implementation (Prompt Snippet)</a:t>
                      </a:r>
                      <a:endParaRPr lang="en-IN" sz="1800">
                        <a:effectLst/>
                      </a:endParaRPr>
                    </a:p>
                  </a:txBody>
                  <a:tcPr marL="55233" marR="55233" marT="36822" marB="3682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8FAFD"/>
                    </a:solidFill>
                  </a:tcPr>
                </a:tc>
                <a:tc>
                  <a:txBody>
                    <a:bodyPr/>
                    <a:lstStyle/>
                    <a:p>
                      <a:pPr rtl="0" fontAlgn="t">
                        <a:buNone/>
                      </a:pPr>
                      <a:r>
                        <a:rPr lang="en-IN" sz="1000" b="0" i="0" u="none" strike="noStrike">
                          <a:solidFill>
                            <a:srgbClr val="1B1C1D"/>
                          </a:solidFill>
                          <a:effectLst/>
                          <a:latin typeface="Google Sans Text"/>
                        </a:rPr>
                        <a:t>Associated Bias/Problem Addressed</a:t>
                      </a:r>
                      <a:endParaRPr lang="en-IN" sz="1800">
                        <a:effectLst/>
                      </a:endParaRPr>
                    </a:p>
                  </a:txBody>
                  <a:tcPr marL="55233" marR="55233" marT="36822" marB="3682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8FAFD"/>
                    </a:solidFill>
                  </a:tcPr>
                </a:tc>
                <a:extLst>
                  <a:ext uri="{0D108BD9-81ED-4DB2-BD59-A6C34878D82A}">
                    <a16:rowId xmlns:a16="http://schemas.microsoft.com/office/drawing/2014/main" val="665703018"/>
                  </a:ext>
                </a:extLst>
              </a:tr>
              <a:tr h="783972">
                <a:tc>
                  <a:txBody>
                    <a:bodyPr/>
                    <a:lstStyle/>
                    <a:p>
                      <a:pPr rtl="0" fontAlgn="t">
                        <a:buNone/>
                      </a:pPr>
                      <a:r>
                        <a:rPr lang="en-IN" sz="1000" b="1" i="0" u="none" strike="noStrike">
                          <a:solidFill>
                            <a:srgbClr val="1B1C1D"/>
                          </a:solidFill>
                          <a:effectLst/>
                          <a:latin typeface="Google Sans Text"/>
                        </a:rPr>
                        <a:t>Chain-of-Thought (CoT) Prompting</a:t>
                      </a:r>
                      <a:endParaRPr lang="en-IN" sz="1800">
                        <a:effectLst/>
                      </a:endParaRPr>
                    </a:p>
                  </a:txBody>
                  <a:tcPr marL="55233" marR="55233" marT="36822" marB="3682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8FAFD"/>
                    </a:solidFill>
                  </a:tcPr>
                </a:tc>
                <a:tc>
                  <a:txBody>
                    <a:bodyPr/>
                    <a:lstStyle/>
                    <a:p>
                      <a:pPr rtl="0" fontAlgn="t">
                        <a:buNone/>
                      </a:pPr>
                      <a:r>
                        <a:rPr lang="en-IN" sz="1000" b="0" i="0" u="none" strike="noStrike">
                          <a:solidFill>
                            <a:srgbClr val="0000FF"/>
                          </a:solidFill>
                          <a:effectLst/>
                          <a:latin typeface="Google Sans Text"/>
                        </a:rPr>
                        <a:t>Instructing the judge to provide its reasoning before the final score.</a:t>
                      </a:r>
                      <a:endParaRPr lang="en-IN" sz="1800">
                        <a:effectLst/>
                      </a:endParaRPr>
                    </a:p>
                    <a:p>
                      <a:pPr rtl="0" fontAlgn="t">
                        <a:spcBef>
                          <a:spcPts val="600"/>
                        </a:spcBef>
                        <a:spcAft>
                          <a:spcPts val="600"/>
                        </a:spcAft>
                        <a:buNone/>
                      </a:pPr>
                      <a:r>
                        <a:rPr lang="en-IN" sz="1000" b="0" i="0" u="none" strike="noStrike">
                          <a:solidFill>
                            <a:srgbClr val="0000FF"/>
                          </a:solidFill>
                          <a:effectLst/>
                          <a:latin typeface="Google Sans Text"/>
                        </a:rPr>
                        <a:t>instruct the judge to "think step-by-step" </a:t>
                      </a:r>
                      <a:r>
                        <a:rPr lang="en-IN" sz="1000" b="0" i="0" u="none" strike="noStrike">
                          <a:solidFill>
                            <a:srgbClr val="1B1C1D"/>
                          </a:solidFill>
                          <a:effectLst/>
                          <a:latin typeface="Google Sans Text"/>
                        </a:rPr>
                        <a:t>before delivering its final verdict.</a:t>
                      </a:r>
                      <a:endParaRPr lang="en-IN" sz="1800">
                        <a:effectLst/>
                      </a:endParaRPr>
                    </a:p>
                  </a:txBody>
                  <a:tcPr marL="55233" marR="55233" marT="36822" marB="3682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8FAFD"/>
                    </a:solidFill>
                  </a:tcPr>
                </a:tc>
                <a:tc>
                  <a:txBody>
                    <a:bodyPr/>
                    <a:lstStyle/>
                    <a:p>
                      <a:pPr rtl="0" fontAlgn="t">
                        <a:buNone/>
                      </a:pPr>
                      <a:r>
                        <a:rPr lang="en-IN" sz="1000" b="0" i="0" u="none" strike="noStrike">
                          <a:solidFill>
                            <a:srgbClr val="1B1C1D"/>
                          </a:solidFill>
                          <a:effectLst/>
                          <a:latin typeface="Google Sans Text"/>
                        </a:rPr>
                        <a:t>First, provide a step-by-step evaluation of the profile against each criterion. After your reasoning, provide your final scores in a JSON format.</a:t>
                      </a:r>
                      <a:endParaRPr lang="en-IN" sz="1800">
                        <a:effectLst/>
                      </a:endParaRPr>
                    </a:p>
                  </a:txBody>
                  <a:tcPr marL="55233" marR="55233" marT="36822" marB="3682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8FAFD"/>
                    </a:solidFill>
                  </a:tcPr>
                </a:tc>
                <a:tc>
                  <a:txBody>
                    <a:bodyPr/>
                    <a:lstStyle/>
                    <a:p>
                      <a:pPr rtl="0" fontAlgn="t">
                        <a:buNone/>
                      </a:pPr>
                      <a:r>
                        <a:rPr lang="en-IN" sz="1000" b="0" i="0" u="none" strike="noStrike">
                          <a:solidFill>
                            <a:srgbClr val="1B1C1D"/>
                          </a:solidFill>
                          <a:effectLst/>
                          <a:latin typeface="Google Sans Text"/>
                        </a:rPr>
                        <a:t>Improves accuracy by forcing a more deliberative process; provides interpretable feedback for developers.</a:t>
                      </a:r>
                      <a:endParaRPr lang="en-IN" sz="1800">
                        <a:effectLst/>
                      </a:endParaRPr>
                    </a:p>
                  </a:txBody>
                  <a:tcPr marL="55233" marR="55233" marT="36822" marB="3682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8FAFD"/>
                    </a:solidFill>
                  </a:tcPr>
                </a:tc>
                <a:extLst>
                  <a:ext uri="{0D108BD9-81ED-4DB2-BD59-A6C34878D82A}">
                    <a16:rowId xmlns:a16="http://schemas.microsoft.com/office/drawing/2014/main" val="134339280"/>
                  </a:ext>
                </a:extLst>
              </a:tr>
              <a:tr h="948815">
                <a:tc>
                  <a:txBody>
                    <a:bodyPr/>
                    <a:lstStyle/>
                    <a:p>
                      <a:pPr rtl="0" fontAlgn="t">
                        <a:buNone/>
                      </a:pPr>
                      <a:r>
                        <a:rPr lang="en-IN" sz="1000" b="1" i="0" u="none" strike="noStrike" dirty="0">
                          <a:solidFill>
                            <a:srgbClr val="1B1C1D"/>
                          </a:solidFill>
                          <a:effectLst/>
                          <a:latin typeface="Google Sans Text"/>
                        </a:rPr>
                        <a:t>Detailed Rubrics</a:t>
                      </a:r>
                      <a:endParaRPr lang="en-IN" sz="1800" dirty="0">
                        <a:effectLst/>
                      </a:endParaRPr>
                    </a:p>
                  </a:txBody>
                  <a:tcPr marL="55233" marR="55233" marT="36822" marB="3682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tx2">
                        <a:lumMod val="10000"/>
                        <a:lumOff val="90000"/>
                      </a:schemeClr>
                    </a:solidFill>
                  </a:tcPr>
                </a:tc>
                <a:tc>
                  <a:txBody>
                    <a:bodyPr/>
                    <a:lstStyle/>
                    <a:p>
                      <a:pPr rtl="0" fontAlgn="t">
                        <a:buNone/>
                      </a:pPr>
                      <a:r>
                        <a:rPr lang="en-IN" sz="1000" b="0" i="0" u="none" strike="noStrike">
                          <a:solidFill>
                            <a:srgbClr val="0000FF"/>
                          </a:solidFill>
                          <a:effectLst/>
                          <a:latin typeface="Google Sans Text"/>
                        </a:rPr>
                        <a:t>Providing explicit definitions for each point on the scoring scale for every criterion.</a:t>
                      </a:r>
                      <a:endParaRPr lang="en-IN" sz="1800">
                        <a:effectLst/>
                      </a:endParaRPr>
                    </a:p>
                  </a:txBody>
                  <a:tcPr marL="55233" marR="55233" marT="36822" marB="3682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tx2">
                        <a:lumMod val="10000"/>
                        <a:lumOff val="90000"/>
                      </a:schemeClr>
                    </a:solidFill>
                  </a:tcPr>
                </a:tc>
                <a:tc>
                  <a:txBody>
                    <a:bodyPr/>
                    <a:lstStyle/>
                    <a:p>
                      <a:pPr rtl="0" fontAlgn="t">
                        <a:buNone/>
                      </a:pPr>
                      <a:r>
                        <a:rPr lang="en-IN" sz="1000" b="0" i="0" u="none" strike="noStrike" dirty="0">
                          <a:solidFill>
                            <a:srgbClr val="1B1C1D"/>
                          </a:solidFill>
                          <a:effectLst/>
                          <a:latin typeface="Google Sans Text"/>
                        </a:rPr>
                        <a:t>For the 'Creativity' score: 5 means highly imaginative and unexpected; 3 means adequate but relies on common tropes; 1 means generic and clichéd. </a:t>
                      </a:r>
                      <a:r>
                        <a:rPr lang="en-IN" sz="1000" b="1" i="0" u="none" strike="noStrike" dirty="0">
                          <a:solidFill>
                            <a:srgbClr val="0000FF"/>
                          </a:solidFill>
                          <a:effectLst/>
                          <a:latin typeface="Google Sans Text"/>
                        </a:rPr>
                        <a:t>GEval</a:t>
                      </a:r>
                      <a:endParaRPr lang="en-IN" sz="1800" dirty="0">
                        <a:effectLst/>
                      </a:endParaRPr>
                    </a:p>
                  </a:txBody>
                  <a:tcPr marL="55233" marR="55233" marT="36822" marB="3682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tx2">
                        <a:lumMod val="10000"/>
                        <a:lumOff val="90000"/>
                      </a:schemeClr>
                    </a:solidFill>
                  </a:tcPr>
                </a:tc>
                <a:tc>
                  <a:txBody>
                    <a:bodyPr/>
                    <a:lstStyle/>
                    <a:p>
                      <a:pPr rtl="0" fontAlgn="t">
                        <a:buNone/>
                      </a:pPr>
                      <a:r>
                        <a:rPr lang="en-IN" sz="1000" b="0" i="0" u="none" strike="noStrike">
                          <a:solidFill>
                            <a:srgbClr val="1B1C1D"/>
                          </a:solidFill>
                          <a:effectLst/>
                          <a:latin typeface="Google Sans Text"/>
                        </a:rPr>
                        <a:t>Reduces ambiguity and subjectivity; increases inter-rater reliability and consistency of scores.</a:t>
                      </a:r>
                      <a:endParaRPr lang="en-IN" sz="1800">
                        <a:effectLst/>
                      </a:endParaRPr>
                    </a:p>
                    <a:p>
                      <a:pPr fontAlgn="t">
                        <a:buNone/>
                      </a:pPr>
                      <a:br>
                        <a:rPr lang="en-IN" sz="1800">
                          <a:effectLst/>
                        </a:rPr>
                      </a:br>
                      <a:endParaRPr lang="en-IN" sz="1800">
                        <a:effectLst/>
                      </a:endParaRPr>
                    </a:p>
                  </a:txBody>
                  <a:tcPr marL="55233" marR="55233" marT="36822" marB="3682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tx2">
                        <a:lumMod val="10000"/>
                        <a:lumOff val="90000"/>
                      </a:schemeClr>
                    </a:solidFill>
                  </a:tcPr>
                </a:tc>
                <a:extLst>
                  <a:ext uri="{0D108BD9-81ED-4DB2-BD59-A6C34878D82A}">
                    <a16:rowId xmlns:a16="http://schemas.microsoft.com/office/drawing/2014/main" val="2879687732"/>
                  </a:ext>
                </a:extLst>
              </a:tr>
              <a:tr h="559185">
                <a:tc>
                  <a:txBody>
                    <a:bodyPr/>
                    <a:lstStyle/>
                    <a:p>
                      <a:pPr rtl="0" fontAlgn="t">
                        <a:buNone/>
                      </a:pPr>
                      <a:r>
                        <a:rPr lang="en-IN" sz="1000" b="1" i="0" u="none" strike="noStrike" dirty="0">
                          <a:solidFill>
                            <a:srgbClr val="1B1C1D"/>
                          </a:solidFill>
                          <a:effectLst/>
                          <a:latin typeface="Google Sans Text"/>
                        </a:rPr>
                        <a:t>Few-Shot Examples</a:t>
                      </a:r>
                      <a:endParaRPr lang="en-IN" sz="1800" dirty="0">
                        <a:effectLst/>
                      </a:endParaRPr>
                    </a:p>
                  </a:txBody>
                  <a:tcPr marL="55233" marR="55233" marT="36822" marB="3682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tx2">
                        <a:lumMod val="10000"/>
                        <a:lumOff val="90000"/>
                      </a:schemeClr>
                    </a:solidFill>
                  </a:tcPr>
                </a:tc>
                <a:tc>
                  <a:txBody>
                    <a:bodyPr/>
                    <a:lstStyle/>
                    <a:p>
                      <a:pPr rtl="0" fontAlgn="t">
                        <a:buNone/>
                      </a:pPr>
                      <a:r>
                        <a:rPr lang="en-IN" sz="1000" b="0" i="0" u="none" strike="noStrike" dirty="0">
                          <a:solidFill>
                            <a:srgbClr val="1B1C1D"/>
                          </a:solidFill>
                          <a:effectLst/>
                          <a:latin typeface="Google Sans Text"/>
                        </a:rPr>
                        <a:t>Including examples of good and bad outputs with their correct evaluations in the prompt.</a:t>
                      </a:r>
                      <a:endParaRPr lang="en-IN" sz="1800" dirty="0">
                        <a:effectLst/>
                      </a:endParaRPr>
                    </a:p>
                  </a:txBody>
                  <a:tcPr marL="55233" marR="55233" marT="36822" marB="3682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tx2">
                        <a:lumMod val="10000"/>
                        <a:lumOff val="90000"/>
                      </a:schemeClr>
                    </a:solidFill>
                  </a:tcPr>
                </a:tc>
                <a:tc>
                  <a:txBody>
                    <a:bodyPr/>
                    <a:lstStyle/>
                    <a:p>
                      <a:pPr rtl="0" fontAlgn="t">
                        <a:buNone/>
                      </a:pPr>
                      <a:r>
                        <a:rPr lang="en-IN" sz="1000" b="0" i="0" u="none" strike="noStrike" dirty="0">
                          <a:solidFill>
                            <a:srgbClr val="1B1C1D"/>
                          </a:solidFill>
                          <a:effectLst/>
                          <a:latin typeface="Google Sans Text"/>
                        </a:rPr>
                        <a:t>Here is an example of a 'Poor' profile (Score 1): [Example]. Here is an example of an 'Excellent' profile (Score 5): [Example]. Now, evaluate the following profile.</a:t>
                      </a:r>
                      <a:endParaRPr lang="en-IN" sz="1800" dirty="0">
                        <a:effectLst/>
                      </a:endParaRPr>
                    </a:p>
                  </a:txBody>
                  <a:tcPr marL="55233" marR="55233" marT="36822" marB="3682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tx2">
                        <a:lumMod val="10000"/>
                        <a:lumOff val="90000"/>
                      </a:schemeClr>
                    </a:solidFill>
                  </a:tcPr>
                </a:tc>
                <a:tc>
                  <a:txBody>
                    <a:bodyPr/>
                    <a:lstStyle/>
                    <a:p>
                      <a:pPr rtl="0" fontAlgn="t">
                        <a:buNone/>
                      </a:pPr>
                      <a:r>
                        <a:rPr lang="en-IN" sz="1000" b="0" i="0" u="none" strike="noStrike" dirty="0">
                          <a:solidFill>
                            <a:srgbClr val="1B1C1D"/>
                          </a:solidFill>
                          <a:effectLst/>
                          <a:latin typeface="Google Sans Text"/>
                        </a:rPr>
                        <a:t>Calibrates the judge to the specific nuances of the task; helps it understand subtle quality distinctions.</a:t>
                      </a:r>
                      <a:endParaRPr lang="en-IN" sz="1800" dirty="0">
                        <a:effectLst/>
                      </a:endParaRPr>
                    </a:p>
                  </a:txBody>
                  <a:tcPr marL="55233" marR="55233" marT="36822" marB="3682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tx2">
                        <a:lumMod val="10000"/>
                        <a:lumOff val="90000"/>
                      </a:schemeClr>
                    </a:solidFill>
                  </a:tcPr>
                </a:tc>
                <a:extLst>
                  <a:ext uri="{0D108BD9-81ED-4DB2-BD59-A6C34878D82A}">
                    <a16:rowId xmlns:a16="http://schemas.microsoft.com/office/drawing/2014/main" val="4071317373"/>
                  </a:ext>
                </a:extLst>
              </a:tr>
              <a:tr h="409327">
                <a:tc>
                  <a:txBody>
                    <a:bodyPr/>
                    <a:lstStyle/>
                    <a:p>
                      <a:pPr rtl="0" fontAlgn="t">
                        <a:buNone/>
                      </a:pPr>
                      <a:r>
                        <a:rPr lang="en-IN" sz="1000" b="1" i="0" u="none" strike="noStrike">
                          <a:solidFill>
                            <a:srgbClr val="1B1C1D"/>
                          </a:solidFill>
                          <a:effectLst/>
                          <a:latin typeface="Google Sans Text"/>
                        </a:rPr>
                        <a:t>Positional Bias Mitigation</a:t>
                      </a:r>
                      <a:endParaRPr lang="en-IN" sz="1800">
                        <a:effectLst/>
                      </a:endParaRPr>
                    </a:p>
                  </a:txBody>
                  <a:tcPr marL="55233" marR="55233" marT="36822" marB="3682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8FAFD"/>
                    </a:solidFill>
                  </a:tcPr>
                </a:tc>
                <a:tc>
                  <a:txBody>
                    <a:bodyPr/>
                    <a:lstStyle/>
                    <a:p>
                      <a:pPr rtl="0" fontAlgn="t">
                        <a:buNone/>
                      </a:pPr>
                      <a:r>
                        <a:rPr lang="en-IN" sz="1000" b="0" i="0" u="none" strike="noStrike">
                          <a:solidFill>
                            <a:srgbClr val="1B1C1D"/>
                          </a:solidFill>
                          <a:effectLst/>
                          <a:latin typeface="Google Sans Text"/>
                        </a:rPr>
                        <a:t>Running pairwise comparisons twice, swapping the order of the two outputs.</a:t>
                      </a:r>
                      <a:endParaRPr lang="en-IN" sz="1800">
                        <a:effectLst/>
                      </a:endParaRPr>
                    </a:p>
                  </a:txBody>
                  <a:tcPr marL="55233" marR="55233" marT="36822" marB="3682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8FAFD"/>
                    </a:solidFill>
                  </a:tcPr>
                </a:tc>
                <a:tc>
                  <a:txBody>
                    <a:bodyPr/>
                    <a:lstStyle/>
                    <a:p>
                      <a:pPr rtl="0" fontAlgn="t">
                        <a:buNone/>
                      </a:pPr>
                      <a:r>
                        <a:rPr lang="en-IN" sz="1000" b="0" i="0" u="none" strike="noStrike">
                          <a:solidFill>
                            <a:srgbClr val="1B1C1D"/>
                          </a:solidFill>
                          <a:effectLst/>
                          <a:latin typeface="Google Sans Text"/>
                        </a:rPr>
                        <a:t>Run evaluation with [Profile A] then . Rerun with then [Profile A]. Aggregate results.</a:t>
                      </a:r>
                      <a:endParaRPr lang="en-IN" sz="1800">
                        <a:effectLst/>
                      </a:endParaRPr>
                    </a:p>
                  </a:txBody>
                  <a:tcPr marL="55233" marR="55233" marT="36822" marB="3682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8FAFD"/>
                    </a:solidFill>
                  </a:tcPr>
                </a:tc>
                <a:tc>
                  <a:txBody>
                    <a:bodyPr/>
                    <a:lstStyle/>
                    <a:p>
                      <a:pPr rtl="0" fontAlgn="t">
                        <a:buNone/>
                      </a:pPr>
                      <a:r>
                        <a:rPr lang="en-IN" sz="1000" b="0" i="0" u="none" strike="noStrike">
                          <a:solidFill>
                            <a:srgbClr val="1B1C1D"/>
                          </a:solidFill>
                          <a:effectLst/>
                          <a:latin typeface="Google Sans Text"/>
                        </a:rPr>
                        <a:t>Counters the tendency of LLMs to favor the first item presented in a list.</a:t>
                      </a:r>
                      <a:endParaRPr lang="en-IN" sz="1800">
                        <a:effectLst/>
                      </a:endParaRPr>
                    </a:p>
                  </a:txBody>
                  <a:tcPr marL="55233" marR="55233" marT="36822" marB="3682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8FAFD"/>
                    </a:solidFill>
                  </a:tcPr>
                </a:tc>
                <a:extLst>
                  <a:ext uri="{0D108BD9-81ED-4DB2-BD59-A6C34878D82A}">
                    <a16:rowId xmlns:a16="http://schemas.microsoft.com/office/drawing/2014/main" val="884946299"/>
                  </a:ext>
                </a:extLst>
              </a:tr>
              <a:tr h="559185">
                <a:tc>
                  <a:txBody>
                    <a:bodyPr/>
                    <a:lstStyle/>
                    <a:p>
                      <a:pPr rtl="0" fontAlgn="t">
                        <a:buNone/>
                      </a:pPr>
                      <a:r>
                        <a:rPr lang="en-IN" sz="1000" b="1" i="0" u="none" strike="noStrike">
                          <a:solidFill>
                            <a:srgbClr val="1B1C1D"/>
                          </a:solidFill>
                          <a:effectLst/>
                          <a:latin typeface="Google Sans Text"/>
                        </a:rPr>
                        <a:t>Verbosity Bias Mitigation</a:t>
                      </a:r>
                      <a:endParaRPr lang="en-IN" sz="1800">
                        <a:effectLst/>
                      </a:endParaRPr>
                    </a:p>
                  </a:txBody>
                  <a:tcPr marL="55233" marR="55233" marT="36822" marB="3682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8FAFD"/>
                    </a:solidFill>
                  </a:tcPr>
                </a:tc>
                <a:tc>
                  <a:txBody>
                    <a:bodyPr/>
                    <a:lstStyle/>
                    <a:p>
                      <a:pPr rtl="0" fontAlgn="t">
                        <a:buNone/>
                      </a:pPr>
                      <a:r>
                        <a:rPr lang="en-IN" sz="1000" b="0" i="0" u="none" strike="noStrike">
                          <a:solidFill>
                            <a:srgbClr val="1B1C1D"/>
                          </a:solidFill>
                          <a:effectLst/>
                          <a:latin typeface="Google Sans Text"/>
                        </a:rPr>
                        <a:t>Explicitly instructing the judge in the rubric that conciseness is a positive trait.</a:t>
                      </a:r>
                      <a:endParaRPr lang="en-IN" sz="1800">
                        <a:effectLst/>
                      </a:endParaRPr>
                    </a:p>
                  </a:txBody>
                  <a:tcPr marL="55233" marR="55233" marT="36822" marB="3682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8FAFD"/>
                    </a:solidFill>
                  </a:tcPr>
                </a:tc>
                <a:tc>
                  <a:txBody>
                    <a:bodyPr/>
                    <a:lstStyle/>
                    <a:p>
                      <a:pPr rtl="0" fontAlgn="t">
                        <a:buNone/>
                      </a:pPr>
                      <a:r>
                        <a:rPr lang="en-IN" sz="1000" b="0" i="0" u="none" strike="noStrike">
                          <a:solidFill>
                            <a:srgbClr val="1B1C1D"/>
                          </a:solidFill>
                          <a:effectLst/>
                          <a:latin typeface="Google Sans Text"/>
                        </a:rPr>
                        <a:t>In the 'Overall Quality' score, penalize profiles that are unnecessarily verbose or contain filler content. Reward profiles that are concise and impactful.</a:t>
                      </a:r>
                      <a:endParaRPr lang="en-IN" sz="1800">
                        <a:effectLst/>
                      </a:endParaRPr>
                    </a:p>
                  </a:txBody>
                  <a:tcPr marL="55233" marR="55233" marT="36822" marB="3682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8FAFD"/>
                    </a:solidFill>
                  </a:tcPr>
                </a:tc>
                <a:tc>
                  <a:txBody>
                    <a:bodyPr/>
                    <a:lstStyle/>
                    <a:p>
                      <a:pPr rtl="0" fontAlgn="t">
                        <a:buNone/>
                      </a:pPr>
                      <a:r>
                        <a:rPr lang="en-IN" sz="1000" b="0" i="0" u="none" strike="noStrike">
                          <a:solidFill>
                            <a:srgbClr val="1B1C1D"/>
                          </a:solidFill>
                          <a:effectLst/>
                          <a:latin typeface="Google Sans Text"/>
                        </a:rPr>
                        <a:t>Counters the tendency of LLMs to prefer longer outputs, regardless of their quality.</a:t>
                      </a:r>
                      <a:endParaRPr lang="en-IN" sz="1800">
                        <a:effectLst/>
                      </a:endParaRPr>
                    </a:p>
                  </a:txBody>
                  <a:tcPr marL="55233" marR="55233" marT="36822" marB="3682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8FAFD"/>
                    </a:solidFill>
                  </a:tcPr>
                </a:tc>
                <a:extLst>
                  <a:ext uri="{0D108BD9-81ED-4DB2-BD59-A6C34878D82A}">
                    <a16:rowId xmlns:a16="http://schemas.microsoft.com/office/drawing/2014/main" val="420349799"/>
                  </a:ext>
                </a:extLst>
              </a:tr>
              <a:tr h="409327">
                <a:tc>
                  <a:txBody>
                    <a:bodyPr/>
                    <a:lstStyle/>
                    <a:p>
                      <a:pPr rtl="0" fontAlgn="t">
                        <a:buNone/>
                      </a:pPr>
                      <a:r>
                        <a:rPr lang="en-IN" sz="1000" b="1" i="0" u="none" strike="noStrike">
                          <a:solidFill>
                            <a:srgbClr val="1B1C1D"/>
                          </a:solidFill>
                          <a:effectLst/>
                          <a:latin typeface="Google Sans Text"/>
                        </a:rPr>
                        <a:t>Self-Preference Bias Mitigation</a:t>
                      </a:r>
                      <a:endParaRPr lang="en-IN" sz="1800">
                        <a:effectLst/>
                      </a:endParaRPr>
                    </a:p>
                  </a:txBody>
                  <a:tcPr marL="55233" marR="55233" marT="36822" marB="3682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8FAFD"/>
                    </a:solidFill>
                  </a:tcPr>
                </a:tc>
                <a:tc>
                  <a:txBody>
                    <a:bodyPr/>
                    <a:lstStyle/>
                    <a:p>
                      <a:pPr rtl="0" fontAlgn="t">
                        <a:buNone/>
                      </a:pPr>
                      <a:r>
                        <a:rPr lang="en-IN" sz="1000" b="0" i="0" u="none" strike="noStrike">
                          <a:solidFill>
                            <a:srgbClr val="1B1C1D"/>
                          </a:solidFill>
                          <a:effectLst/>
                          <a:latin typeface="Google Sans Text"/>
                        </a:rPr>
                        <a:t>Using a judge model from a different family or provider than the generation model.</a:t>
                      </a:r>
                      <a:endParaRPr lang="en-IN" sz="1800">
                        <a:effectLst/>
                      </a:endParaRPr>
                    </a:p>
                  </a:txBody>
                  <a:tcPr marL="55233" marR="55233" marT="36822" marB="3682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8FAFD"/>
                    </a:solidFill>
                  </a:tcPr>
                </a:tc>
                <a:tc>
                  <a:txBody>
                    <a:bodyPr/>
                    <a:lstStyle/>
                    <a:p>
                      <a:pPr rtl="0" fontAlgn="t">
                        <a:buNone/>
                      </a:pPr>
                      <a:r>
                        <a:rPr lang="en-IN" sz="1000" b="0" i="0" u="none" strike="noStrike">
                          <a:solidFill>
                            <a:srgbClr val="1B1C1D"/>
                          </a:solidFill>
                          <a:effectLst/>
                          <a:latin typeface="Google Sans Text"/>
                        </a:rPr>
                        <a:t>If the profile is generated by gpt-4-turbo, use claude-3-opus or gemini-1.5-pro as the judge.</a:t>
                      </a:r>
                      <a:endParaRPr lang="en-IN" sz="1800">
                        <a:effectLst/>
                      </a:endParaRPr>
                    </a:p>
                  </a:txBody>
                  <a:tcPr marL="55233" marR="55233" marT="36822" marB="3682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8FAFD"/>
                    </a:solidFill>
                  </a:tcPr>
                </a:tc>
                <a:tc>
                  <a:txBody>
                    <a:bodyPr/>
                    <a:lstStyle/>
                    <a:p>
                      <a:pPr rtl="0" fontAlgn="t">
                        <a:buNone/>
                      </a:pPr>
                      <a:r>
                        <a:rPr lang="en-IN" sz="1000" b="0" i="0" u="none" strike="noStrike" dirty="0">
                          <a:solidFill>
                            <a:srgbClr val="1B1C1D"/>
                          </a:solidFill>
                          <a:effectLst/>
                          <a:latin typeface="Google Sans Text"/>
                        </a:rPr>
                        <a:t>Reduces the risk that the judge will unfairly </a:t>
                      </a:r>
                      <a:r>
                        <a:rPr lang="en-IN" sz="1000" b="0" i="0" u="none" strike="noStrike" dirty="0" err="1">
                          <a:solidFill>
                            <a:srgbClr val="1B1C1D"/>
                          </a:solidFill>
                          <a:effectLst/>
                          <a:latin typeface="Google Sans Text"/>
                        </a:rPr>
                        <a:t>favor</a:t>
                      </a:r>
                      <a:r>
                        <a:rPr lang="en-IN" sz="1000" b="0" i="0" u="none" strike="noStrike" dirty="0">
                          <a:solidFill>
                            <a:srgbClr val="1B1C1D"/>
                          </a:solidFill>
                          <a:effectLst/>
                          <a:latin typeface="Google Sans Text"/>
                        </a:rPr>
                        <a:t> outputs from its own model family.</a:t>
                      </a:r>
                      <a:endParaRPr lang="en-IN" sz="1800" dirty="0">
                        <a:effectLst/>
                      </a:endParaRPr>
                    </a:p>
                  </a:txBody>
                  <a:tcPr marL="55233" marR="55233" marT="36822" marB="3682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8FAFD"/>
                    </a:solidFill>
                  </a:tcPr>
                </a:tc>
                <a:extLst>
                  <a:ext uri="{0D108BD9-81ED-4DB2-BD59-A6C34878D82A}">
                    <a16:rowId xmlns:a16="http://schemas.microsoft.com/office/drawing/2014/main" val="4234343650"/>
                  </a:ext>
                </a:extLst>
              </a:tr>
              <a:tr h="409327">
                <a:tc>
                  <a:txBody>
                    <a:bodyPr/>
                    <a:lstStyle/>
                    <a:p>
                      <a:pPr rtl="0" fontAlgn="t">
                        <a:buNone/>
                      </a:pPr>
                      <a:r>
                        <a:rPr lang="en-IN" sz="1000" b="1" i="0" u="none" strike="noStrike">
                          <a:solidFill>
                            <a:srgbClr val="1B1C1D"/>
                          </a:solidFill>
                          <a:effectLst/>
                          <a:latin typeface="Google Sans Text"/>
                        </a:rPr>
                        <a:t>Low Temperature Setting</a:t>
                      </a:r>
                      <a:endParaRPr lang="en-IN" sz="1800">
                        <a:effectLst/>
                      </a:endParaRPr>
                    </a:p>
                  </a:txBody>
                  <a:tcPr marL="55233" marR="55233" marT="36822" marB="3682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8FAFD"/>
                    </a:solidFill>
                  </a:tcPr>
                </a:tc>
                <a:tc>
                  <a:txBody>
                    <a:bodyPr/>
                    <a:lstStyle/>
                    <a:p>
                      <a:pPr rtl="0" fontAlgn="t">
                        <a:buNone/>
                      </a:pPr>
                      <a:r>
                        <a:rPr lang="en-IN" sz="1000" b="0" i="0" u="none" strike="noStrike">
                          <a:solidFill>
                            <a:srgbClr val="1B1C1D"/>
                          </a:solidFill>
                          <a:effectLst/>
                          <a:latin typeface="Google Sans Text"/>
                        </a:rPr>
                        <a:t>Setting the temperature parameter of the judge model's API call to a low value.</a:t>
                      </a:r>
                      <a:endParaRPr lang="en-IN" sz="1800">
                        <a:effectLst/>
                      </a:endParaRPr>
                    </a:p>
                  </a:txBody>
                  <a:tcPr marL="55233" marR="55233" marT="36822" marB="3682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8FAFD"/>
                    </a:solidFill>
                  </a:tcPr>
                </a:tc>
                <a:tc>
                  <a:txBody>
                    <a:bodyPr/>
                    <a:lstStyle/>
                    <a:p>
                      <a:pPr rtl="0" fontAlgn="t">
                        <a:buNone/>
                      </a:pPr>
                      <a:r>
                        <a:rPr lang="en-IN" sz="1000" b="0" i="0" u="none" strike="noStrike">
                          <a:solidFill>
                            <a:srgbClr val="1B1C1D"/>
                          </a:solidFill>
                          <a:effectLst/>
                          <a:latin typeface="Google Sans Text"/>
                        </a:rPr>
                        <a:t>temperature=0.1</a:t>
                      </a:r>
                      <a:endParaRPr lang="en-IN" sz="1800">
                        <a:effectLst/>
                      </a:endParaRPr>
                    </a:p>
                  </a:txBody>
                  <a:tcPr marL="55233" marR="55233" marT="36822" marB="3682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8FAFD"/>
                    </a:solidFill>
                  </a:tcPr>
                </a:tc>
                <a:tc>
                  <a:txBody>
                    <a:bodyPr/>
                    <a:lstStyle/>
                    <a:p>
                      <a:pPr rtl="0" fontAlgn="t">
                        <a:buNone/>
                      </a:pPr>
                      <a:r>
                        <a:rPr lang="en-IN" sz="1000" b="0" i="0" u="none" strike="noStrike" dirty="0">
                          <a:solidFill>
                            <a:srgbClr val="1B1C1D"/>
                          </a:solidFill>
                          <a:effectLst/>
                          <a:latin typeface="Google Sans Text"/>
                        </a:rPr>
                        <a:t>Increases the determinism and consistency of the judge's outputs, ensuring the same input receives the same evaluation.</a:t>
                      </a:r>
                      <a:endParaRPr lang="en-IN" sz="1800" dirty="0">
                        <a:effectLst/>
                      </a:endParaRPr>
                    </a:p>
                  </a:txBody>
                  <a:tcPr marL="55233" marR="55233" marT="36822" marB="3682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8FAFD"/>
                    </a:solidFill>
                  </a:tcPr>
                </a:tc>
                <a:extLst>
                  <a:ext uri="{0D108BD9-81ED-4DB2-BD59-A6C34878D82A}">
                    <a16:rowId xmlns:a16="http://schemas.microsoft.com/office/drawing/2014/main" val="788697449"/>
                  </a:ext>
                </a:extLst>
              </a:tr>
            </a:tbl>
          </a:graphicData>
        </a:graphic>
      </p:graphicFrame>
      <p:sp>
        <p:nvSpPr>
          <p:cNvPr id="7" name="TextBox 6">
            <a:extLst>
              <a:ext uri="{FF2B5EF4-FFF2-40B4-BE49-F238E27FC236}">
                <a16:creationId xmlns:a16="http://schemas.microsoft.com/office/drawing/2014/main" id="{8C3D2990-C8D8-71A6-E42E-BA530DD589BD}"/>
              </a:ext>
            </a:extLst>
          </p:cNvPr>
          <p:cNvSpPr txBox="1"/>
          <p:nvPr/>
        </p:nvSpPr>
        <p:spPr>
          <a:xfrm>
            <a:off x="1980784" y="523251"/>
            <a:ext cx="8230431" cy="1077218"/>
          </a:xfrm>
          <a:prstGeom prst="rect">
            <a:avLst/>
          </a:prstGeom>
          <a:noFill/>
        </p:spPr>
        <p:txBody>
          <a:bodyPr wrap="square">
            <a:spAutoFit/>
          </a:bodyPr>
          <a:lstStyle/>
          <a:p>
            <a:pPr rtl="0">
              <a:spcBef>
                <a:spcPts val="600"/>
              </a:spcBef>
              <a:spcAft>
                <a:spcPts val="1200"/>
              </a:spcAft>
              <a:buNone/>
            </a:pPr>
            <a:r>
              <a:rPr lang="en-IN" sz="1800" b="1" i="0" u="none" strike="noStrike" dirty="0">
                <a:solidFill>
                  <a:srgbClr val="1B1C1D"/>
                </a:solidFill>
                <a:effectLst/>
                <a:latin typeface="Google Sans Text"/>
              </a:rPr>
              <a:t>Table 2: LLM-as-a-Judge: Prompting Strategies and Bias Mitigation Techniques</a:t>
            </a:r>
            <a:endParaRPr lang="en-IN" b="0" dirty="0">
              <a:effectLst/>
            </a:endParaRPr>
          </a:p>
          <a:p>
            <a:pPr>
              <a:buNone/>
            </a:pPr>
            <a:br>
              <a:rPr lang="en-IN" dirty="0"/>
            </a:br>
            <a:endParaRPr lang="en-US" dirty="0"/>
          </a:p>
        </p:txBody>
      </p:sp>
    </p:spTree>
    <p:extLst>
      <p:ext uri="{BB962C8B-B14F-4D97-AF65-F5344CB8AC3E}">
        <p14:creationId xmlns:p14="http://schemas.microsoft.com/office/powerpoint/2010/main" val="368855253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F3060C83-F051-4F0E-ABAD-AA0DFC48B2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Freeform: Shape 11">
            <a:extLst>
              <a:ext uri="{FF2B5EF4-FFF2-40B4-BE49-F238E27FC236}">
                <a16:creationId xmlns:a16="http://schemas.microsoft.com/office/drawing/2014/main" id="{83C98ABE-055B-441F-B07E-44F97F083C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376156" y="-253670"/>
            <a:ext cx="1827638" cy="1376989"/>
          </a:xfrm>
          <a:custGeom>
            <a:avLst/>
            <a:gdLst>
              <a:gd name="connsiteX0" fmla="*/ 0 w 1827638"/>
              <a:gd name="connsiteY0" fmla="*/ 987379 h 1376989"/>
              <a:gd name="connsiteX1" fmla="*/ 987379 w 1827638"/>
              <a:gd name="connsiteY1" fmla="*/ 0 h 1376989"/>
              <a:gd name="connsiteX2" fmla="*/ 1827638 w 1827638"/>
              <a:gd name="connsiteY2" fmla="*/ 840260 h 1376989"/>
              <a:gd name="connsiteX3" fmla="*/ 1827638 w 1827638"/>
              <a:gd name="connsiteY3" fmla="*/ 1376989 h 1376989"/>
              <a:gd name="connsiteX4" fmla="*/ 0 w 1827638"/>
              <a:gd name="connsiteY4" fmla="*/ 1376989 h 13769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7638" h="1376989">
                <a:moveTo>
                  <a:pt x="0" y="987379"/>
                </a:moveTo>
                <a:lnTo>
                  <a:pt x="987379" y="0"/>
                </a:lnTo>
                <a:lnTo>
                  <a:pt x="1827638" y="840260"/>
                </a:lnTo>
                <a:lnTo>
                  <a:pt x="1827638" y="1376989"/>
                </a:lnTo>
                <a:lnTo>
                  <a:pt x="0" y="1376989"/>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Rectangle 13">
            <a:extLst>
              <a:ext uri="{FF2B5EF4-FFF2-40B4-BE49-F238E27FC236}">
                <a16:creationId xmlns:a16="http://schemas.microsoft.com/office/drawing/2014/main" id="{29FDB030-9B49-4CED-8CCD-4D99382388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891641" y="422146"/>
            <a:ext cx="645368" cy="64536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3783CA14-24A1-485C-8B30-D6A5D87987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10043482" y="655140"/>
            <a:ext cx="687472" cy="687472"/>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Freeform: Shape 17">
            <a:extLst>
              <a:ext uri="{FF2B5EF4-FFF2-40B4-BE49-F238E27FC236}">
                <a16:creationId xmlns:a16="http://schemas.microsoft.com/office/drawing/2014/main" id="{9A97C86A-04D6-40F7-AE84-31AB43E6A8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9356643" y="0"/>
            <a:ext cx="2835357" cy="1480837"/>
          </a:xfrm>
          <a:custGeom>
            <a:avLst/>
            <a:gdLst>
              <a:gd name="connsiteX0" fmla="*/ 2835357 w 2835357"/>
              <a:gd name="connsiteY0" fmla="*/ 1480837 h 1480837"/>
              <a:gd name="connsiteX1" fmla="*/ 0 w 2835357"/>
              <a:gd name="connsiteY1" fmla="*/ 1480837 h 1480837"/>
              <a:gd name="connsiteX2" fmla="*/ 1552727 w 2835357"/>
              <a:gd name="connsiteY2" fmla="*/ 0 h 1480837"/>
              <a:gd name="connsiteX3" fmla="*/ 2835357 w 2835357"/>
              <a:gd name="connsiteY3" fmla="*/ 1223245 h 1480837"/>
            </a:gdLst>
            <a:ahLst/>
            <a:cxnLst>
              <a:cxn ang="0">
                <a:pos x="connsiteX0" y="connsiteY0"/>
              </a:cxn>
              <a:cxn ang="0">
                <a:pos x="connsiteX1" y="connsiteY1"/>
              </a:cxn>
              <a:cxn ang="0">
                <a:pos x="connsiteX2" y="connsiteY2"/>
              </a:cxn>
              <a:cxn ang="0">
                <a:pos x="connsiteX3" y="connsiteY3"/>
              </a:cxn>
            </a:cxnLst>
            <a:rect l="l" t="t" r="r" b="b"/>
            <a:pathLst>
              <a:path w="2835357" h="1480837">
                <a:moveTo>
                  <a:pt x="2835357" y="1480837"/>
                </a:moveTo>
                <a:lnTo>
                  <a:pt x="0" y="1480837"/>
                </a:lnTo>
                <a:lnTo>
                  <a:pt x="1552727" y="0"/>
                </a:lnTo>
                <a:lnTo>
                  <a:pt x="2835357" y="1223245"/>
                </a:ln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Isosceles Triangle 19">
            <a:extLst>
              <a:ext uri="{FF2B5EF4-FFF2-40B4-BE49-F238E27FC236}">
                <a16:creationId xmlns:a16="http://schemas.microsoft.com/office/drawing/2014/main" id="{FF9F2414-84E8-453E-B1F3-389FDE8192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976344" y="6115501"/>
            <a:ext cx="1494513" cy="742499"/>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Isosceles Triangle 21">
            <a:extLst>
              <a:ext uri="{FF2B5EF4-FFF2-40B4-BE49-F238E27FC236}">
                <a16:creationId xmlns:a16="http://schemas.microsoft.com/office/drawing/2014/main" id="{3ECA69A1-7536-43AC-85EF-C7106179F5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604080" y="6453143"/>
            <a:ext cx="814903" cy="404857"/>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1">
            <a:extLst>
              <a:ext uri="{FF2B5EF4-FFF2-40B4-BE49-F238E27FC236}">
                <a16:creationId xmlns:a16="http://schemas.microsoft.com/office/drawing/2014/main" id="{138C52FB-7C57-2192-44D0-400A99C73E30}"/>
              </a:ext>
            </a:extLst>
          </p:cNvPr>
          <p:cNvSpPr>
            <a:spLocks noChangeArrowheads="1"/>
          </p:cNvSpPr>
          <p:nvPr/>
        </p:nvSpPr>
        <p:spPr bwMode="auto">
          <a:xfrm>
            <a:off x="4749800" y="1241425"/>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4" name="Content Placeholder 3">
            <a:extLst>
              <a:ext uri="{FF2B5EF4-FFF2-40B4-BE49-F238E27FC236}">
                <a16:creationId xmlns:a16="http://schemas.microsoft.com/office/drawing/2014/main" id="{0CEF18B1-0C44-0883-7DAE-FD7C5B9E067C}"/>
              </a:ext>
            </a:extLst>
          </p:cNvPr>
          <p:cNvGraphicFramePr>
            <a:graphicFrameLocks noGrp="1"/>
          </p:cNvGraphicFramePr>
          <p:nvPr>
            <p:ph idx="1"/>
            <p:extLst>
              <p:ext uri="{D42A27DB-BD31-4B8C-83A1-F6EECF244321}">
                <p14:modId xmlns:p14="http://schemas.microsoft.com/office/powerpoint/2010/main" val="2710921792"/>
              </p:ext>
            </p:extLst>
          </p:nvPr>
        </p:nvGraphicFramePr>
        <p:xfrm>
          <a:off x="179614" y="975200"/>
          <a:ext cx="11832771" cy="5188277"/>
        </p:xfrm>
        <a:graphic>
          <a:graphicData uri="http://schemas.openxmlformats.org/drawingml/2006/table">
            <a:tbl>
              <a:tblPr/>
              <a:tblGrid>
                <a:gridCol w="2054686">
                  <a:extLst>
                    <a:ext uri="{9D8B030D-6E8A-4147-A177-3AD203B41FA5}">
                      <a16:colId xmlns:a16="http://schemas.microsoft.com/office/drawing/2014/main" val="317765753"/>
                    </a:ext>
                  </a:extLst>
                </a:gridCol>
                <a:gridCol w="3208557">
                  <a:extLst>
                    <a:ext uri="{9D8B030D-6E8A-4147-A177-3AD203B41FA5}">
                      <a16:colId xmlns:a16="http://schemas.microsoft.com/office/drawing/2014/main" val="2892419057"/>
                    </a:ext>
                  </a:extLst>
                </a:gridCol>
                <a:gridCol w="6569528">
                  <a:extLst>
                    <a:ext uri="{9D8B030D-6E8A-4147-A177-3AD203B41FA5}">
                      <a16:colId xmlns:a16="http://schemas.microsoft.com/office/drawing/2014/main" val="2643324125"/>
                    </a:ext>
                  </a:extLst>
                </a:gridCol>
              </a:tblGrid>
              <a:tr h="319097">
                <a:tc>
                  <a:txBody>
                    <a:bodyPr/>
                    <a:lstStyle/>
                    <a:p>
                      <a:pPr rtl="0" fontAlgn="t">
                        <a:buNone/>
                      </a:pPr>
                      <a:r>
                        <a:rPr lang="en-IN" sz="1100" b="0" i="0" u="none" strike="noStrike">
                          <a:solidFill>
                            <a:srgbClr val="1B1C1D"/>
                          </a:solidFill>
                          <a:effectLst/>
                          <a:latin typeface="Google Sans Text"/>
                        </a:rPr>
                        <a:t>Dimension</a:t>
                      </a:r>
                      <a:endParaRPr lang="en-IN" sz="1800">
                        <a:effectLst/>
                      </a:endParaRPr>
                    </a:p>
                  </a:txBody>
                  <a:tcPr marL="57108" marR="57108" marT="38071" marB="38071">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8FAFD"/>
                    </a:solidFill>
                  </a:tcPr>
                </a:tc>
                <a:tc>
                  <a:txBody>
                    <a:bodyPr/>
                    <a:lstStyle/>
                    <a:p>
                      <a:pPr rtl="0" fontAlgn="t">
                        <a:buNone/>
                      </a:pPr>
                      <a:r>
                        <a:rPr lang="en-IN" sz="1100" b="0" i="0" u="none" strike="noStrike">
                          <a:solidFill>
                            <a:srgbClr val="1B1C1D"/>
                          </a:solidFill>
                          <a:effectLst/>
                          <a:latin typeface="Google Sans Text"/>
                        </a:rPr>
                        <a:t>Description</a:t>
                      </a:r>
                      <a:endParaRPr lang="en-IN" sz="1800">
                        <a:effectLst/>
                      </a:endParaRPr>
                    </a:p>
                  </a:txBody>
                  <a:tcPr marL="57108" marR="57108" marT="38071" marB="38071">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8FAFD"/>
                    </a:solidFill>
                  </a:tcPr>
                </a:tc>
                <a:tc>
                  <a:txBody>
                    <a:bodyPr/>
                    <a:lstStyle/>
                    <a:p>
                      <a:pPr rtl="0" fontAlgn="t">
                        <a:buNone/>
                      </a:pPr>
                      <a:r>
                        <a:rPr lang="en-IN" sz="1100" b="0" i="0" u="none" strike="noStrike">
                          <a:solidFill>
                            <a:srgbClr val="1B1C1D"/>
                          </a:solidFill>
                          <a:effectLst/>
                          <a:latin typeface="Google Sans Text"/>
                        </a:rPr>
                        <a:t>Scoring Scale (1-5) with Anchors</a:t>
                      </a:r>
                      <a:endParaRPr lang="en-IN" sz="1800">
                        <a:effectLst/>
                      </a:endParaRPr>
                    </a:p>
                  </a:txBody>
                  <a:tcPr marL="57108" marR="57108" marT="38071" marB="38071">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8FAFD"/>
                    </a:solidFill>
                  </a:tcPr>
                </a:tc>
                <a:extLst>
                  <a:ext uri="{0D108BD9-81ED-4DB2-BD59-A6C34878D82A}">
                    <a16:rowId xmlns:a16="http://schemas.microsoft.com/office/drawing/2014/main" val="828454985"/>
                  </a:ext>
                </a:extLst>
              </a:tr>
              <a:tr h="793510">
                <a:tc>
                  <a:txBody>
                    <a:bodyPr/>
                    <a:lstStyle/>
                    <a:p>
                      <a:pPr rtl="0" fontAlgn="t">
                        <a:buNone/>
                      </a:pPr>
                      <a:r>
                        <a:rPr lang="en-IN" sz="1100" b="1" i="0" u="none" strike="noStrike">
                          <a:solidFill>
                            <a:srgbClr val="1B1C1D"/>
                          </a:solidFill>
                          <a:effectLst/>
                          <a:latin typeface="Google Sans Text"/>
                        </a:rPr>
                        <a:t>Image Relevance</a:t>
                      </a:r>
                      <a:endParaRPr lang="en-IN" sz="1800">
                        <a:effectLst/>
                      </a:endParaRPr>
                    </a:p>
                  </a:txBody>
                  <a:tcPr marL="57108" marR="57108" marT="38071" marB="38071">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8FAFD"/>
                    </a:solidFill>
                  </a:tcPr>
                </a:tc>
                <a:tc>
                  <a:txBody>
                    <a:bodyPr/>
                    <a:lstStyle/>
                    <a:p>
                      <a:pPr rtl="0" fontAlgn="t">
                        <a:buNone/>
                      </a:pPr>
                      <a:r>
                        <a:rPr lang="en-IN" sz="1100" b="0" i="0" u="none" strike="noStrike" dirty="0">
                          <a:solidFill>
                            <a:srgbClr val="1B1C1D"/>
                          </a:solidFill>
                          <a:effectLst/>
                          <a:latin typeface="Google Sans Text"/>
                        </a:rPr>
                        <a:t>Assesses how well the profile's text reflects the key visual elements, mood, and overall theme presented in the image.</a:t>
                      </a:r>
                      <a:endParaRPr lang="en-IN" sz="1800" dirty="0">
                        <a:effectLst/>
                      </a:endParaRPr>
                    </a:p>
                  </a:txBody>
                  <a:tcPr marL="57108" marR="57108" marT="38071" marB="38071">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8FAFD"/>
                    </a:solidFill>
                  </a:tcPr>
                </a:tc>
                <a:tc>
                  <a:txBody>
                    <a:bodyPr/>
                    <a:lstStyle/>
                    <a:p>
                      <a:pPr rtl="0" fontAlgn="t">
                        <a:buNone/>
                      </a:pPr>
                      <a:r>
                        <a:rPr lang="en-IN" sz="1100" b="0" i="0" u="none" strike="noStrike">
                          <a:solidFill>
                            <a:srgbClr val="1B1C1D"/>
                          </a:solidFill>
                          <a:effectLst/>
                          <a:latin typeface="Google Sans Text"/>
                        </a:rPr>
                        <a:t>1 (Poor): The profile seems completely unrelated to the image or contradicts it directly.</a:t>
                      </a:r>
                      <a:endParaRPr lang="en-IN" sz="1800">
                        <a:effectLst/>
                      </a:endParaRPr>
                    </a:p>
                    <a:p>
                      <a:pPr rtl="0" fontAlgn="t">
                        <a:buNone/>
                      </a:pPr>
                      <a:r>
                        <a:rPr lang="en-IN" sz="1100" b="0" i="0" u="none" strike="noStrike">
                          <a:solidFill>
                            <a:srgbClr val="1B1C1D"/>
                          </a:solidFill>
                          <a:effectLst/>
                          <a:latin typeface="Google Sans Text"/>
                        </a:rPr>
                        <a:t>3 (Good): The profile accurately reflects the main subject and general mood of the image.</a:t>
                      </a:r>
                      <a:endParaRPr lang="en-IN" sz="1800">
                        <a:effectLst/>
                      </a:endParaRPr>
                    </a:p>
                    <a:p>
                      <a:pPr rtl="0" fontAlgn="t">
                        <a:buNone/>
                      </a:pPr>
                      <a:r>
                        <a:rPr lang="en-IN" sz="1100" b="0" i="0" u="none" strike="noStrike">
                          <a:solidFill>
                            <a:srgbClr val="1B1C1D"/>
                          </a:solidFill>
                          <a:effectLst/>
                          <a:latin typeface="Google Sans Text"/>
                        </a:rPr>
                        <a:t>5 (Excellent): The profile masterfully captures both the literal details and the subtle nuances (e.g., emotion, atmosphere) of the image.</a:t>
                      </a:r>
                      <a:endParaRPr lang="en-IN" sz="1800">
                        <a:effectLst/>
                      </a:endParaRPr>
                    </a:p>
                  </a:txBody>
                  <a:tcPr marL="57108" marR="57108" marT="38071" marB="38071">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8FAFD"/>
                    </a:solidFill>
                  </a:tcPr>
                </a:tc>
                <a:extLst>
                  <a:ext uri="{0D108BD9-81ED-4DB2-BD59-A6C34878D82A}">
                    <a16:rowId xmlns:a16="http://schemas.microsoft.com/office/drawing/2014/main" val="905853865"/>
                  </a:ext>
                </a:extLst>
              </a:tr>
              <a:tr h="957943">
                <a:tc>
                  <a:txBody>
                    <a:bodyPr/>
                    <a:lstStyle/>
                    <a:p>
                      <a:pPr rtl="0" fontAlgn="t">
                        <a:buNone/>
                      </a:pPr>
                      <a:r>
                        <a:rPr lang="en-IN" sz="1100" b="1" i="0" u="none" strike="noStrike">
                          <a:solidFill>
                            <a:srgbClr val="1B1C1D"/>
                          </a:solidFill>
                          <a:effectLst/>
                          <a:latin typeface="Google Sans Text"/>
                        </a:rPr>
                        <a:t>Creativity &amp; Originality</a:t>
                      </a:r>
                      <a:endParaRPr lang="en-IN" sz="1800">
                        <a:effectLst/>
                      </a:endParaRPr>
                    </a:p>
                  </a:txBody>
                  <a:tcPr marL="57108" marR="57108" marT="38071" marB="38071">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8FAFD"/>
                    </a:solidFill>
                  </a:tcPr>
                </a:tc>
                <a:tc>
                  <a:txBody>
                    <a:bodyPr/>
                    <a:lstStyle/>
                    <a:p>
                      <a:pPr rtl="0" fontAlgn="t">
                        <a:buNone/>
                      </a:pPr>
                      <a:r>
                        <a:rPr lang="en-IN" sz="1100" b="0" i="0" u="none" strike="noStrike" dirty="0">
                          <a:solidFill>
                            <a:srgbClr val="1B1C1D"/>
                          </a:solidFill>
                          <a:effectLst/>
                          <a:latin typeface="Google Sans Text"/>
                        </a:rPr>
                        <a:t>Evaluates the imagination and novelty of the profile. Does it go beyond a literal description to create an interesting and unique character concept?</a:t>
                      </a:r>
                      <a:endParaRPr lang="en-IN" sz="1800" dirty="0">
                        <a:effectLst/>
                      </a:endParaRPr>
                    </a:p>
                  </a:txBody>
                  <a:tcPr marL="57108" marR="57108" marT="38071" marB="38071">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8FAFD"/>
                    </a:solidFill>
                  </a:tcPr>
                </a:tc>
                <a:tc>
                  <a:txBody>
                    <a:bodyPr/>
                    <a:lstStyle/>
                    <a:p>
                      <a:pPr rtl="0" fontAlgn="t">
                        <a:buNone/>
                      </a:pPr>
                      <a:r>
                        <a:rPr lang="en-IN" sz="1100" b="0" i="0" u="none" strike="noStrike">
                          <a:solidFill>
                            <a:srgbClr val="1B1C1D"/>
                          </a:solidFill>
                          <a:effectLst/>
                          <a:latin typeface="Google Sans Text"/>
                        </a:rPr>
                        <a:t>1 (Poor): The profile is generic, clichéd, or a simple, boring description of the image.</a:t>
                      </a:r>
                      <a:endParaRPr lang="en-IN" sz="1800">
                        <a:effectLst/>
                      </a:endParaRPr>
                    </a:p>
                    <a:p>
                      <a:pPr rtl="0" fontAlgn="t">
                        <a:buNone/>
                      </a:pPr>
                      <a:r>
                        <a:rPr lang="en-IN" sz="1100" b="0" i="0" u="none" strike="noStrike">
                          <a:solidFill>
                            <a:srgbClr val="1B1C1D"/>
                          </a:solidFill>
                          <a:effectLst/>
                          <a:latin typeface="Google Sans Text"/>
                        </a:rPr>
                        <a:t>3 (Good): The profile contains some creative elements but largely relies on common genre tropes.</a:t>
                      </a:r>
                      <a:endParaRPr lang="en-IN" sz="1800">
                        <a:effectLst/>
                      </a:endParaRPr>
                    </a:p>
                    <a:p>
                      <a:pPr rtl="0" fontAlgn="t">
                        <a:buNone/>
                      </a:pPr>
                      <a:r>
                        <a:rPr lang="en-IN" sz="1100" b="0" i="0" u="none" strike="noStrike">
                          <a:solidFill>
                            <a:srgbClr val="1B1C1D"/>
                          </a:solidFill>
                          <a:effectLst/>
                          <a:latin typeface="Google Sans Text"/>
                        </a:rPr>
                        <a:t>5 (Excellent): The profile presents a highly original, surprising, or deeply intriguing character concept that is a unique interpretation of the image.</a:t>
                      </a:r>
                      <a:endParaRPr lang="en-IN" sz="1800">
                        <a:effectLst/>
                      </a:endParaRPr>
                    </a:p>
                  </a:txBody>
                  <a:tcPr marL="57108" marR="57108" marT="38071" marB="38071">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8FAFD"/>
                    </a:solidFill>
                  </a:tcPr>
                </a:tc>
                <a:extLst>
                  <a:ext uri="{0D108BD9-81ED-4DB2-BD59-A6C34878D82A}">
                    <a16:rowId xmlns:a16="http://schemas.microsoft.com/office/drawing/2014/main" val="289983487"/>
                  </a:ext>
                </a:extLst>
              </a:tr>
              <a:tr h="925285">
                <a:tc>
                  <a:txBody>
                    <a:bodyPr/>
                    <a:lstStyle/>
                    <a:p>
                      <a:pPr rtl="0" fontAlgn="t">
                        <a:buNone/>
                      </a:pPr>
                      <a:r>
                        <a:rPr lang="en-IN" sz="1100" b="1" i="0" u="none" strike="noStrike">
                          <a:solidFill>
                            <a:srgbClr val="1B1C1D"/>
                          </a:solidFill>
                          <a:effectLst/>
                          <a:latin typeface="Google Sans Text"/>
                        </a:rPr>
                        <a:t>Persona Coherence</a:t>
                      </a:r>
                      <a:endParaRPr lang="en-IN" sz="1800">
                        <a:effectLst/>
                      </a:endParaRPr>
                    </a:p>
                  </a:txBody>
                  <a:tcPr marL="57108" marR="57108" marT="38071" marB="38071">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8FAFD"/>
                    </a:solidFill>
                  </a:tcPr>
                </a:tc>
                <a:tc>
                  <a:txBody>
                    <a:bodyPr/>
                    <a:lstStyle/>
                    <a:p>
                      <a:pPr rtl="0" fontAlgn="t">
                        <a:buNone/>
                      </a:pPr>
                      <a:r>
                        <a:rPr lang="en-IN" sz="1100" b="0" i="0" u="none" strike="noStrike" dirty="0">
                          <a:solidFill>
                            <a:srgbClr val="1B1C1D"/>
                          </a:solidFill>
                          <a:effectLst/>
                          <a:latin typeface="Google Sans Text"/>
                        </a:rPr>
                        <a:t>Measures the internal consistency of the generated profile. Do the name, backstory, and described personality traits align logically and create a believable character? (Playing activity)</a:t>
                      </a:r>
                      <a:endParaRPr lang="en-IN" sz="1800" dirty="0">
                        <a:effectLst/>
                      </a:endParaRPr>
                    </a:p>
                  </a:txBody>
                  <a:tcPr marL="57108" marR="57108" marT="38071" marB="38071">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8FAFD"/>
                    </a:solidFill>
                  </a:tcPr>
                </a:tc>
                <a:tc>
                  <a:txBody>
                    <a:bodyPr/>
                    <a:lstStyle/>
                    <a:p>
                      <a:pPr rtl="0" fontAlgn="t">
                        <a:buNone/>
                      </a:pPr>
                      <a:r>
                        <a:rPr lang="en-IN" sz="1100" b="0" i="0" u="none" strike="noStrike">
                          <a:solidFill>
                            <a:srgbClr val="1B1C1D"/>
                          </a:solidFill>
                          <a:effectLst/>
                          <a:latin typeface="Google Sans Text"/>
                        </a:rPr>
                        <a:t>1 (Poor): The profile contains clear contradictions (e.g., a cheerful description for a grim-looking character, a name that doesn't fit the backstory).</a:t>
                      </a:r>
                      <a:endParaRPr lang="en-IN" sz="1800">
                        <a:effectLst/>
                      </a:endParaRPr>
                    </a:p>
                    <a:p>
                      <a:pPr rtl="0" fontAlgn="t">
                        <a:buNone/>
                      </a:pPr>
                      <a:r>
                        <a:rPr lang="en-IN" sz="1100" b="0" i="0" u="none" strike="noStrike">
                          <a:solidFill>
                            <a:srgbClr val="1B1C1D"/>
                          </a:solidFill>
                          <a:effectLst/>
                          <a:latin typeface="Google Sans Text"/>
                        </a:rPr>
                        <a:t>3 (Good): The profile is mostly consistent, with no major logical flaws.</a:t>
                      </a:r>
                      <a:endParaRPr lang="en-IN" sz="1800">
                        <a:effectLst/>
                      </a:endParaRPr>
                    </a:p>
                    <a:p>
                      <a:pPr rtl="0" fontAlgn="t">
                        <a:buNone/>
                      </a:pPr>
                      <a:r>
                        <a:rPr lang="en-IN" sz="1100" b="0" i="0" u="none" strike="noStrike">
                          <a:solidFill>
                            <a:srgbClr val="1B1C1D"/>
                          </a:solidFill>
                          <a:effectLst/>
                          <a:latin typeface="Google Sans Text"/>
                        </a:rPr>
                        <a:t>5 (Excellent): All elements of the profile (name, traits, history) work together seamlessly to create a highly coherent and believable persona.</a:t>
                      </a:r>
                      <a:endParaRPr lang="en-IN" sz="1800">
                        <a:effectLst/>
                      </a:endParaRPr>
                    </a:p>
                  </a:txBody>
                  <a:tcPr marL="57108" marR="57108" marT="38071" marB="38071">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8FAFD"/>
                    </a:solidFill>
                  </a:tcPr>
                </a:tc>
                <a:extLst>
                  <a:ext uri="{0D108BD9-81ED-4DB2-BD59-A6C34878D82A}">
                    <a16:rowId xmlns:a16="http://schemas.microsoft.com/office/drawing/2014/main" val="96773369"/>
                  </a:ext>
                </a:extLst>
              </a:tr>
              <a:tr h="587829">
                <a:tc>
                  <a:txBody>
                    <a:bodyPr/>
                    <a:lstStyle/>
                    <a:p>
                      <a:pPr rtl="0" fontAlgn="t">
                        <a:buNone/>
                      </a:pPr>
                      <a:r>
                        <a:rPr lang="en-IN" sz="1100" b="1" i="0" u="none" strike="noStrike" dirty="0">
                          <a:solidFill>
                            <a:srgbClr val="1B1C1D"/>
                          </a:solidFill>
                          <a:effectLst/>
                          <a:latin typeface="Google Sans Text"/>
                        </a:rPr>
                        <a:t>Gaming Tone Fitness</a:t>
                      </a:r>
                      <a:endParaRPr lang="en-IN" sz="1800" dirty="0">
                        <a:effectLst/>
                      </a:endParaRPr>
                    </a:p>
                  </a:txBody>
                  <a:tcPr marL="57108" marR="57108" marT="38071" marB="38071">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8FAFD"/>
                    </a:solidFill>
                  </a:tcPr>
                </a:tc>
                <a:tc>
                  <a:txBody>
                    <a:bodyPr/>
                    <a:lstStyle/>
                    <a:p>
                      <a:pPr rtl="0" fontAlgn="t">
                        <a:buNone/>
                      </a:pPr>
                      <a:r>
                        <a:rPr lang="en-IN" sz="1100" b="0" i="0" u="none" strike="noStrike" dirty="0">
                          <a:solidFill>
                            <a:srgbClr val="1B1C1D"/>
                          </a:solidFill>
                          <a:effectLst/>
                          <a:latin typeface="Google Sans Text"/>
                        </a:rPr>
                        <a:t>Assesses how well the profile's style, tone, and language fit within the context of a gaming application and the target genre. Is it engaging for a player? ()</a:t>
                      </a:r>
                      <a:endParaRPr lang="en-IN" sz="1800" dirty="0">
                        <a:effectLst/>
                      </a:endParaRPr>
                    </a:p>
                  </a:txBody>
                  <a:tcPr marL="57108" marR="57108" marT="38071" marB="38071">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8FAFD"/>
                    </a:solidFill>
                  </a:tcPr>
                </a:tc>
                <a:tc>
                  <a:txBody>
                    <a:bodyPr/>
                    <a:lstStyle/>
                    <a:p>
                      <a:pPr rtl="0" fontAlgn="t">
                        <a:buNone/>
                      </a:pPr>
                      <a:r>
                        <a:rPr lang="en-IN" sz="1100" b="0" i="0" u="none" strike="noStrike" dirty="0">
                          <a:solidFill>
                            <a:srgbClr val="1B1C1D"/>
                          </a:solidFill>
                          <a:effectLst/>
                          <a:latin typeface="Google Sans Text"/>
                        </a:rPr>
                        <a:t>1 (Poor): The tone is completely inappropriate for a game (e.g., too formal, academic, or bland).</a:t>
                      </a:r>
                      <a:endParaRPr lang="en-IN" sz="1800" dirty="0">
                        <a:effectLst/>
                      </a:endParaRPr>
                    </a:p>
                    <a:p>
                      <a:pPr rtl="0" fontAlgn="t">
                        <a:buNone/>
                      </a:pPr>
                      <a:r>
                        <a:rPr lang="en-IN" sz="1100" b="0" i="0" u="none" strike="noStrike" dirty="0">
                          <a:solidFill>
                            <a:srgbClr val="1B1C1D"/>
                          </a:solidFill>
                          <a:effectLst/>
                          <a:latin typeface="Google Sans Text"/>
                        </a:rPr>
                        <a:t>3 (Good): The tone is acceptable for a game but feels generic.</a:t>
                      </a:r>
                      <a:endParaRPr lang="en-IN" sz="1800" dirty="0">
                        <a:effectLst/>
                      </a:endParaRPr>
                    </a:p>
                    <a:p>
                      <a:pPr rtl="0" fontAlgn="t">
                        <a:buNone/>
                      </a:pPr>
                      <a:r>
                        <a:rPr lang="en-IN" sz="1100" b="0" i="0" u="none" strike="noStrike" dirty="0">
                          <a:solidFill>
                            <a:srgbClr val="1B1C1D"/>
                          </a:solidFill>
                          <a:effectLst/>
                          <a:latin typeface="Google Sans Text"/>
                        </a:rPr>
                        <a:t>5 (Excellent): The tone is perfectly suited to the target game genre, is highly engaging, and contains a "hook" that would make a player want to interact with or learn more about this character.</a:t>
                      </a:r>
                      <a:endParaRPr lang="en-IN" sz="1800" dirty="0">
                        <a:effectLst/>
                      </a:endParaRPr>
                    </a:p>
                  </a:txBody>
                  <a:tcPr marL="57108" marR="57108" marT="38071" marB="38071">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8FAFD"/>
                    </a:solidFill>
                  </a:tcPr>
                </a:tc>
                <a:extLst>
                  <a:ext uri="{0D108BD9-81ED-4DB2-BD59-A6C34878D82A}">
                    <a16:rowId xmlns:a16="http://schemas.microsoft.com/office/drawing/2014/main" val="28777301"/>
                  </a:ext>
                </a:extLst>
              </a:tr>
              <a:tr h="587829">
                <a:tc>
                  <a:txBody>
                    <a:bodyPr/>
                    <a:lstStyle/>
                    <a:p>
                      <a:pPr rtl="0" fontAlgn="t">
                        <a:buNone/>
                      </a:pPr>
                      <a:r>
                        <a:rPr lang="en-IN" sz="1100" b="1" i="0" u="none" strike="noStrike" dirty="0">
                          <a:solidFill>
                            <a:srgbClr val="1B1C1D"/>
                          </a:solidFill>
                          <a:effectLst/>
                          <a:latin typeface="Google Sans Text"/>
                        </a:rPr>
                        <a:t>Nudging Tone Fitness</a:t>
                      </a:r>
                      <a:endParaRPr lang="en-IN" sz="1800" dirty="0">
                        <a:effectLst/>
                      </a:endParaRPr>
                    </a:p>
                  </a:txBody>
                  <a:tcPr marL="57108" marR="57108" marT="38071" marB="38071">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8FAFD"/>
                    </a:solidFill>
                  </a:tcPr>
                </a:tc>
                <a:tc>
                  <a:txBody>
                    <a:bodyPr/>
                    <a:lstStyle/>
                    <a:p>
                      <a:pPr rtl="0" fontAlgn="t">
                        <a:buNone/>
                      </a:pPr>
                      <a:r>
                        <a:rPr lang="en-IN" sz="1100" b="0" i="0" u="none" strike="noStrike" dirty="0">
                          <a:solidFill>
                            <a:srgbClr val="1B1C1D"/>
                          </a:solidFill>
                          <a:effectLst/>
                          <a:latin typeface="Google Sans Text"/>
                        </a:rPr>
                        <a:t>Assesses how well the nudging style, tone, and language fit within the context of a gaming application and the target genre.</a:t>
                      </a:r>
                      <a:endParaRPr lang="en-IN" sz="1800" dirty="0">
                        <a:effectLst/>
                      </a:endParaRPr>
                    </a:p>
                  </a:txBody>
                  <a:tcPr marL="57108" marR="57108" marT="38071" marB="38071">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8FAFD"/>
                    </a:solidFill>
                  </a:tcPr>
                </a:tc>
                <a:tc>
                  <a:txBody>
                    <a:bodyPr/>
                    <a:lstStyle/>
                    <a:p>
                      <a:pPr rtl="0" fontAlgn="t">
                        <a:buNone/>
                      </a:pPr>
                      <a:r>
                        <a:rPr lang="en-IN" sz="1100" b="0" i="0" u="none" strike="noStrike" dirty="0">
                          <a:solidFill>
                            <a:srgbClr val="1B1C1D"/>
                          </a:solidFill>
                          <a:effectLst/>
                          <a:latin typeface="Google Sans Text"/>
                        </a:rPr>
                        <a:t>1 (Poor): The tone is completely inappropriate </a:t>
                      </a:r>
                    </a:p>
                    <a:p>
                      <a:pPr rtl="0" fontAlgn="t">
                        <a:buNone/>
                      </a:pPr>
                      <a:r>
                        <a:rPr lang="en-IN" sz="1100" b="0" i="0" u="none" strike="noStrike" dirty="0">
                          <a:solidFill>
                            <a:srgbClr val="1B1C1D"/>
                          </a:solidFill>
                          <a:effectLst/>
                          <a:latin typeface="Google Sans Text"/>
                        </a:rPr>
                        <a:t>3 (Good): The tone is acceptable for a user but feels generic.</a:t>
                      </a:r>
                      <a:endParaRPr lang="en-IN" sz="1800" dirty="0">
                        <a:effectLst/>
                      </a:endParaRPr>
                    </a:p>
                    <a:p>
                      <a:pPr rtl="0" fontAlgn="t">
                        <a:buNone/>
                      </a:pPr>
                      <a:r>
                        <a:rPr lang="en-IN" sz="1100" b="0" i="0" u="none" strike="noStrike" dirty="0">
                          <a:solidFill>
                            <a:srgbClr val="1B1C1D"/>
                          </a:solidFill>
                          <a:effectLst/>
                          <a:latin typeface="Google Sans Text"/>
                        </a:rPr>
                        <a:t>5 (Excellent): The tone is perfectly suited to the target user genre</a:t>
                      </a:r>
                      <a:endParaRPr lang="en-IN" sz="1800" dirty="0">
                        <a:effectLst/>
                      </a:endParaRPr>
                    </a:p>
                  </a:txBody>
                  <a:tcPr marL="57108" marR="57108" marT="38071" marB="38071">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8FAFD"/>
                    </a:solidFill>
                  </a:tcPr>
                </a:tc>
                <a:extLst>
                  <a:ext uri="{0D108BD9-81ED-4DB2-BD59-A6C34878D82A}">
                    <a16:rowId xmlns:a16="http://schemas.microsoft.com/office/drawing/2014/main" val="1965874339"/>
                  </a:ext>
                </a:extLst>
              </a:tr>
              <a:tr h="857911">
                <a:tc>
                  <a:txBody>
                    <a:bodyPr/>
                    <a:lstStyle/>
                    <a:p>
                      <a:pPr rtl="0" fontAlgn="t">
                        <a:buNone/>
                      </a:pPr>
                      <a:r>
                        <a:rPr lang="en-IN" sz="1100" b="1" i="0" u="none" strike="noStrike">
                          <a:solidFill>
                            <a:srgbClr val="1B1C1D"/>
                          </a:solidFill>
                          <a:effectLst/>
                          <a:latin typeface="Google Sans Text"/>
                        </a:rPr>
                        <a:t>Grammatical Correctness &amp; Fluency</a:t>
                      </a:r>
                      <a:endParaRPr lang="en-IN" sz="1800">
                        <a:effectLst/>
                      </a:endParaRPr>
                    </a:p>
                  </a:txBody>
                  <a:tcPr marL="57108" marR="57108" marT="38071" marB="38071">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8FAFD"/>
                    </a:solidFill>
                  </a:tcPr>
                </a:tc>
                <a:tc>
                  <a:txBody>
                    <a:bodyPr/>
                    <a:lstStyle/>
                    <a:p>
                      <a:pPr rtl="0" fontAlgn="t">
                        <a:buNone/>
                      </a:pPr>
                      <a:r>
                        <a:rPr lang="en-IN" sz="1100" b="0" i="0" u="none" strike="noStrike" dirty="0">
                          <a:solidFill>
                            <a:srgbClr val="1B1C1D"/>
                          </a:solidFill>
                          <a:effectLst/>
                          <a:latin typeface="Google Sans Text"/>
                        </a:rPr>
                        <a:t>Evaluates the basic linguistic quality of the text. Is it free of grammatical errors, spelling mistakes, and awkward phrasing?</a:t>
                      </a:r>
                      <a:endParaRPr lang="en-IN" sz="1800" dirty="0">
                        <a:effectLst/>
                      </a:endParaRPr>
                    </a:p>
                  </a:txBody>
                  <a:tcPr marL="57108" marR="57108" marT="38071" marB="38071">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8FAFD"/>
                    </a:solidFill>
                  </a:tcPr>
                </a:tc>
                <a:tc>
                  <a:txBody>
                    <a:bodyPr/>
                    <a:lstStyle/>
                    <a:p>
                      <a:pPr rtl="0" fontAlgn="t">
                        <a:buNone/>
                      </a:pPr>
                      <a:r>
                        <a:rPr lang="en-IN" sz="1100" b="0" i="0" u="none" strike="noStrike" dirty="0">
                          <a:solidFill>
                            <a:srgbClr val="1B1C1D"/>
                          </a:solidFill>
                          <a:effectLst/>
                          <a:latin typeface="Google Sans Text"/>
                        </a:rPr>
                        <a:t>1 (Poor): The profile contains numerous errors that make it difficult to read or understand.</a:t>
                      </a:r>
                      <a:endParaRPr lang="en-IN" sz="1800" dirty="0">
                        <a:effectLst/>
                      </a:endParaRPr>
                    </a:p>
                    <a:p>
                      <a:pPr rtl="0" fontAlgn="t">
                        <a:buNone/>
                      </a:pPr>
                      <a:r>
                        <a:rPr lang="en-IN" sz="1100" b="0" i="0" u="none" strike="noStrike" dirty="0">
                          <a:solidFill>
                            <a:srgbClr val="1B1C1D"/>
                          </a:solidFill>
                          <a:effectLst/>
                          <a:latin typeface="Google Sans Text"/>
                        </a:rPr>
                        <a:t>3 (Good): The profile has one or two minor errors but is generally well-written.</a:t>
                      </a:r>
                      <a:endParaRPr lang="en-IN" sz="1800" dirty="0">
                        <a:effectLst/>
                      </a:endParaRPr>
                    </a:p>
                    <a:p>
                      <a:pPr rtl="0" fontAlgn="t">
                        <a:buNone/>
                      </a:pPr>
                      <a:r>
                        <a:rPr lang="en-IN" sz="1100" b="0" i="0" u="none" strike="noStrike" dirty="0">
                          <a:solidFill>
                            <a:srgbClr val="1B1C1D"/>
                          </a:solidFill>
                          <a:effectLst/>
                          <a:latin typeface="Google Sans Text"/>
                        </a:rPr>
                        <a:t>5 (Excellent): The profile is grammatically flawless and reads fluently and naturally.</a:t>
                      </a:r>
                      <a:endParaRPr lang="en-IN" sz="1800" dirty="0">
                        <a:effectLst/>
                      </a:endParaRPr>
                    </a:p>
                  </a:txBody>
                  <a:tcPr marL="57108" marR="57108" marT="38071" marB="38071">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8FAFD"/>
                    </a:solidFill>
                  </a:tcPr>
                </a:tc>
                <a:extLst>
                  <a:ext uri="{0D108BD9-81ED-4DB2-BD59-A6C34878D82A}">
                    <a16:rowId xmlns:a16="http://schemas.microsoft.com/office/drawing/2014/main" val="1768779184"/>
                  </a:ext>
                </a:extLst>
              </a:tr>
            </a:tbl>
          </a:graphicData>
        </a:graphic>
      </p:graphicFrame>
      <p:sp>
        <p:nvSpPr>
          <p:cNvPr id="8" name="TextBox 7">
            <a:extLst>
              <a:ext uri="{FF2B5EF4-FFF2-40B4-BE49-F238E27FC236}">
                <a16:creationId xmlns:a16="http://schemas.microsoft.com/office/drawing/2014/main" id="{46CBC7A3-8253-0273-03DB-F91CA56C5208}"/>
              </a:ext>
            </a:extLst>
          </p:cNvPr>
          <p:cNvSpPr txBox="1"/>
          <p:nvPr/>
        </p:nvSpPr>
        <p:spPr>
          <a:xfrm>
            <a:off x="2958888" y="434824"/>
            <a:ext cx="8475132" cy="369332"/>
          </a:xfrm>
          <a:prstGeom prst="rect">
            <a:avLst/>
          </a:prstGeom>
          <a:noFill/>
        </p:spPr>
        <p:txBody>
          <a:bodyPr wrap="square">
            <a:spAutoFit/>
          </a:bodyPr>
          <a:lstStyle/>
          <a:p>
            <a:r>
              <a:rPr lang="en-IN" sz="1800" b="1" i="0" u="none" strike="noStrike" dirty="0">
                <a:solidFill>
                  <a:srgbClr val="1B1C1D"/>
                </a:solidFill>
                <a:effectLst/>
                <a:latin typeface="Google Sans Text"/>
              </a:rPr>
              <a:t>Example Human Evaluation Rubric for Gaming Profiles</a:t>
            </a:r>
            <a:endParaRPr lang="en-US" dirty="0"/>
          </a:p>
        </p:txBody>
      </p:sp>
    </p:spTree>
    <p:extLst>
      <p:ext uri="{BB962C8B-B14F-4D97-AF65-F5344CB8AC3E}">
        <p14:creationId xmlns:p14="http://schemas.microsoft.com/office/powerpoint/2010/main" val="298982583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087604-F58E-EE75-3668-500E32B158C8}"/>
              </a:ext>
            </a:extLst>
          </p:cNvPr>
          <p:cNvSpPr>
            <a:spLocks noGrp="1"/>
          </p:cNvSpPr>
          <p:nvPr>
            <p:ph type="title"/>
          </p:nvPr>
        </p:nvSpPr>
        <p:spPr>
          <a:xfrm>
            <a:off x="838200" y="365126"/>
            <a:ext cx="10515600" cy="984250"/>
          </a:xfrm>
        </p:spPr>
        <p:txBody>
          <a:bodyPr/>
          <a:lstStyle/>
          <a:p>
            <a:r>
              <a:rPr lang="en-US" dirty="0"/>
              <a:t>Inferencing strategy (deployment)</a:t>
            </a:r>
          </a:p>
        </p:txBody>
      </p:sp>
      <p:pic>
        <p:nvPicPr>
          <p:cNvPr id="1026" name="Picture 2" descr="Computer vision – What Is It and Why Does It Matter?">
            <a:extLst>
              <a:ext uri="{FF2B5EF4-FFF2-40B4-BE49-F238E27FC236}">
                <a16:creationId xmlns:a16="http://schemas.microsoft.com/office/drawing/2014/main" id="{FB07F8BC-736F-C6E9-340E-EA1C2C23323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02648" y="1210727"/>
            <a:ext cx="9144000" cy="5143500"/>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a:extLst>
              <a:ext uri="{FF2B5EF4-FFF2-40B4-BE49-F238E27FC236}">
                <a16:creationId xmlns:a16="http://schemas.microsoft.com/office/drawing/2014/main" id="{790ED2D8-A25A-1F2E-DE2A-47E63176697C}"/>
              </a:ext>
            </a:extLst>
          </p:cNvPr>
          <p:cNvSpPr/>
          <p:nvPr/>
        </p:nvSpPr>
        <p:spPr>
          <a:xfrm>
            <a:off x="10337031" y="3001715"/>
            <a:ext cx="849745" cy="34790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C1</a:t>
            </a:r>
          </a:p>
        </p:txBody>
      </p:sp>
      <p:sp>
        <p:nvSpPr>
          <p:cNvPr id="5" name="Rectangle 4">
            <a:extLst>
              <a:ext uri="{FF2B5EF4-FFF2-40B4-BE49-F238E27FC236}">
                <a16:creationId xmlns:a16="http://schemas.microsoft.com/office/drawing/2014/main" id="{41DBEEEB-146E-1526-9156-51DBF2B66735}"/>
              </a:ext>
            </a:extLst>
          </p:cNvPr>
          <p:cNvSpPr/>
          <p:nvPr/>
        </p:nvSpPr>
        <p:spPr>
          <a:xfrm>
            <a:off x="10345492" y="3552049"/>
            <a:ext cx="849745" cy="34790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C1</a:t>
            </a:r>
          </a:p>
        </p:txBody>
      </p:sp>
      <p:sp>
        <p:nvSpPr>
          <p:cNvPr id="6" name="Rectangle 5">
            <a:extLst>
              <a:ext uri="{FF2B5EF4-FFF2-40B4-BE49-F238E27FC236}">
                <a16:creationId xmlns:a16="http://schemas.microsoft.com/office/drawing/2014/main" id="{8A5135A7-0906-F169-55C4-2D0CDCD9D266}"/>
              </a:ext>
            </a:extLst>
          </p:cNvPr>
          <p:cNvSpPr/>
          <p:nvPr/>
        </p:nvSpPr>
        <p:spPr>
          <a:xfrm>
            <a:off x="10353958" y="4085451"/>
            <a:ext cx="849745" cy="34790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C1</a:t>
            </a:r>
          </a:p>
        </p:txBody>
      </p:sp>
      <p:sp>
        <p:nvSpPr>
          <p:cNvPr id="7" name="Rectangle 6">
            <a:extLst>
              <a:ext uri="{FF2B5EF4-FFF2-40B4-BE49-F238E27FC236}">
                <a16:creationId xmlns:a16="http://schemas.microsoft.com/office/drawing/2014/main" id="{6999B1AA-3073-C20E-8B2F-BB4173AFA92D}"/>
              </a:ext>
            </a:extLst>
          </p:cNvPr>
          <p:cNvSpPr/>
          <p:nvPr/>
        </p:nvSpPr>
        <p:spPr>
          <a:xfrm>
            <a:off x="10345491" y="4618853"/>
            <a:ext cx="849745" cy="34790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C1</a:t>
            </a:r>
          </a:p>
        </p:txBody>
      </p:sp>
      <p:sp>
        <p:nvSpPr>
          <p:cNvPr id="8" name="Rectangle 7">
            <a:extLst>
              <a:ext uri="{FF2B5EF4-FFF2-40B4-BE49-F238E27FC236}">
                <a16:creationId xmlns:a16="http://schemas.microsoft.com/office/drawing/2014/main" id="{946DB090-AF47-E684-416A-91FB32F97AFD}"/>
              </a:ext>
            </a:extLst>
          </p:cNvPr>
          <p:cNvSpPr/>
          <p:nvPr/>
        </p:nvSpPr>
        <p:spPr>
          <a:xfrm>
            <a:off x="10353957" y="5160722"/>
            <a:ext cx="849745" cy="34790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C1</a:t>
            </a:r>
          </a:p>
        </p:txBody>
      </p:sp>
      <p:sp>
        <p:nvSpPr>
          <p:cNvPr id="11" name="Rectangle 10">
            <a:extLst>
              <a:ext uri="{FF2B5EF4-FFF2-40B4-BE49-F238E27FC236}">
                <a16:creationId xmlns:a16="http://schemas.microsoft.com/office/drawing/2014/main" id="{54603B60-D162-0733-83E1-D761E547830E}"/>
              </a:ext>
            </a:extLst>
          </p:cNvPr>
          <p:cNvSpPr/>
          <p:nvPr/>
        </p:nvSpPr>
        <p:spPr>
          <a:xfrm>
            <a:off x="3285067" y="3001715"/>
            <a:ext cx="1625600" cy="1257687"/>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pic>
        <p:nvPicPr>
          <p:cNvPr id="10" name="Picture 9" descr="A graph with a line&#10;&#10;AI-generated content may be incorrect.">
            <a:extLst>
              <a:ext uri="{FF2B5EF4-FFF2-40B4-BE49-F238E27FC236}">
                <a16:creationId xmlns:a16="http://schemas.microsoft.com/office/drawing/2014/main" id="{6CA5D3C7-1522-D9C0-C545-0C173F140FA9}"/>
              </a:ext>
            </a:extLst>
          </p:cNvPr>
          <p:cNvPicPr>
            <a:picLocks noChangeAspect="1"/>
          </p:cNvPicPr>
          <p:nvPr/>
        </p:nvPicPr>
        <p:blipFill>
          <a:blip r:embed="rId3"/>
          <a:srcRect r="31111"/>
          <a:stretch>
            <a:fillRect/>
          </a:stretch>
        </p:blipFill>
        <p:spPr>
          <a:xfrm>
            <a:off x="636648" y="2916179"/>
            <a:ext cx="4332000" cy="1257687"/>
          </a:xfrm>
          <a:prstGeom prst="rect">
            <a:avLst/>
          </a:prstGeom>
        </p:spPr>
      </p:pic>
    </p:spTree>
    <p:extLst>
      <p:ext uri="{BB962C8B-B14F-4D97-AF65-F5344CB8AC3E}">
        <p14:creationId xmlns:p14="http://schemas.microsoft.com/office/powerpoint/2010/main" val="301416131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182</TotalTime>
  <Words>2860</Words>
  <Application>Microsoft Macintosh PowerPoint</Application>
  <PresentationFormat>Widescreen</PresentationFormat>
  <Paragraphs>238</Paragraphs>
  <Slides>12</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12</vt:i4>
      </vt:variant>
    </vt:vector>
  </HeadingPairs>
  <TitlesOfParts>
    <vt:vector size="17" baseType="lpstr">
      <vt:lpstr>Aptos</vt:lpstr>
      <vt:lpstr>Aptos Display</vt:lpstr>
      <vt:lpstr>Arial</vt:lpstr>
      <vt:lpstr>Google Sans Text</vt:lpstr>
      <vt:lpstr>Office Theme</vt:lpstr>
      <vt:lpstr>Multimodal RAG-Based Explainable Clustering of User Behaviour</vt:lpstr>
      <vt:lpstr>Motivation</vt:lpstr>
      <vt:lpstr>Why don’t you pass raw-json to LLM?</vt:lpstr>
      <vt:lpstr>Why Multimodal-RAG</vt:lpstr>
      <vt:lpstr>Why Multimodal-RAG</vt:lpstr>
      <vt:lpstr>Benefits</vt:lpstr>
      <vt:lpstr>PowerPoint Presentation</vt:lpstr>
      <vt:lpstr>Evaluation</vt:lpstr>
      <vt:lpstr>PowerPoint Presentation</vt:lpstr>
      <vt:lpstr>PowerPoint Presentation</vt:lpstr>
      <vt:lpstr>PowerPoint Presentation</vt:lpstr>
      <vt:lpstr>Inferencing strategy (deployment)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Debanjan Sadhukhan</dc:creator>
  <cp:lastModifiedBy>Debanjan Sadhukhan</cp:lastModifiedBy>
  <cp:revision>4</cp:revision>
  <dcterms:created xsi:type="dcterms:W3CDTF">2025-07-18T07:02:54Z</dcterms:created>
  <dcterms:modified xsi:type="dcterms:W3CDTF">2025-07-20T05:20:25Z</dcterms:modified>
</cp:coreProperties>
</file>